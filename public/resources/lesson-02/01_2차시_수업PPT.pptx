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707343bf124b3f" /><Relationship Type="http://schemas.openxmlformats.org/officeDocument/2006/relationships/extended-properties" Target="/docProps/app.xml" Id="R916493762775469c" /><Relationship Type="http://schemas.openxmlformats.org/officeDocument/2006/relationships/officeDocument" Target="/ppt/presentation.xml" Id="Raa6561a722d249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d1a941ae414c71"/>
  </p:sldMasterIdLst>
  <p:notesMasterIdLst>
    <p:notesMasterId xmlns:r="http://schemas.openxmlformats.org/officeDocument/2006/relationships" r:id="R4d9a8d46c961472b"/>
  </p:notesMasterIdLst>
  <p:sldIdLst>
    <p:sldId xmlns:r="http://schemas.openxmlformats.org/officeDocument/2006/relationships" id="256" r:id="R3588a45f64464e24"/>
    <p:sldId xmlns:r="http://schemas.openxmlformats.org/officeDocument/2006/relationships" id="257" r:id="R5323b418c16f47cb"/>
    <p:sldId xmlns:r="http://schemas.openxmlformats.org/officeDocument/2006/relationships" id="258" r:id="Rf82c85c7425d48f9"/>
    <p:sldId xmlns:r="http://schemas.openxmlformats.org/officeDocument/2006/relationships" id="259" r:id="R12e1fe60434a4eae"/>
    <p:sldId xmlns:r="http://schemas.openxmlformats.org/officeDocument/2006/relationships" id="260" r:id="R8e666df97193415e"/>
    <p:sldId xmlns:r="http://schemas.openxmlformats.org/officeDocument/2006/relationships" id="261" r:id="Rdbd0d005ae224804"/>
    <p:sldId xmlns:r="http://schemas.openxmlformats.org/officeDocument/2006/relationships" id="262" r:id="R9ca65ea40fcc4f7c"/>
    <p:sldId xmlns:r="http://schemas.openxmlformats.org/officeDocument/2006/relationships" id="263" r:id="R732892eed1ee49f3"/>
    <p:sldId xmlns:r="http://schemas.openxmlformats.org/officeDocument/2006/relationships" id="264" r:id="R1088c9da757f492e"/>
    <p:sldId xmlns:r="http://schemas.openxmlformats.org/officeDocument/2006/relationships" id="265" r:id="Ra9e9809b8799462b"/>
    <p:sldId xmlns:r="http://schemas.openxmlformats.org/officeDocument/2006/relationships" id="266" r:id="R5b7e9b9ada92489d"/>
    <p:sldId xmlns:r="http://schemas.openxmlformats.org/officeDocument/2006/relationships" id="267" r:id="Re4c8f522276e44ed"/>
    <p:sldId xmlns:r="http://schemas.openxmlformats.org/officeDocument/2006/relationships" id="268" r:id="R65eff6c2e91c4f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b50c0fe6fc44f1" /><Relationship Type="http://schemas.openxmlformats.org/officeDocument/2006/relationships/slideMaster" Target="/ppt/slideMasters/slideMaster1.xml" Id="R7ad1a941ae414c71" /><Relationship Type="http://schemas.openxmlformats.org/officeDocument/2006/relationships/notesMaster" Target="/ppt/notesMasters/notesMaster1.xml" Id="R4d9a8d46c961472b" /><Relationship Type="http://schemas.openxmlformats.org/officeDocument/2006/relationships/presProps" Target="/ppt/presProps.xml" Id="R1c5f8eb5315d45d1" /><Relationship Type="http://schemas.openxmlformats.org/officeDocument/2006/relationships/tableStyles" Target="/ppt/tableStyles.xml" Id="R5a1a3fd3338043ef" /><Relationship Type="http://schemas.openxmlformats.org/officeDocument/2006/relationships/slide" Target="/ppt/slides/slide1.xml" Id="R3588a45f64464e24" /><Relationship Type="http://schemas.openxmlformats.org/officeDocument/2006/relationships/slide" Target="/ppt/slides/slide2.xml" Id="R5323b418c16f47cb" /><Relationship Type="http://schemas.openxmlformats.org/officeDocument/2006/relationships/slide" Target="/ppt/slides/slide3.xml" Id="Rf82c85c7425d48f9" /><Relationship Type="http://schemas.openxmlformats.org/officeDocument/2006/relationships/slide" Target="/ppt/slides/slide4.xml" Id="R12e1fe60434a4eae" /><Relationship Type="http://schemas.openxmlformats.org/officeDocument/2006/relationships/slide" Target="/ppt/slides/slide5.xml" Id="R8e666df97193415e" /><Relationship Type="http://schemas.openxmlformats.org/officeDocument/2006/relationships/slide" Target="/ppt/slides/slide6.xml" Id="Rdbd0d005ae224804" /><Relationship Type="http://schemas.openxmlformats.org/officeDocument/2006/relationships/slide" Target="/ppt/slides/slide7.xml" Id="R9ca65ea40fcc4f7c" /><Relationship Type="http://schemas.openxmlformats.org/officeDocument/2006/relationships/slide" Target="/ppt/slides/slide8.xml" Id="R732892eed1ee49f3" /><Relationship Type="http://schemas.openxmlformats.org/officeDocument/2006/relationships/slide" Target="/ppt/slides/slide9.xml" Id="R1088c9da757f492e" /><Relationship Type="http://schemas.openxmlformats.org/officeDocument/2006/relationships/slide" Target="/ppt/slides/slide10.xml" Id="Ra9e9809b8799462b" /><Relationship Type="http://schemas.openxmlformats.org/officeDocument/2006/relationships/slide" Target="/ppt/slides/slide11.xml" Id="R5b7e9b9ada92489d" /><Relationship Type="http://schemas.openxmlformats.org/officeDocument/2006/relationships/slide" Target="/ppt/slides/slide12.xml" Id="Re4c8f522276e44ed" /><Relationship Type="http://schemas.openxmlformats.org/officeDocument/2006/relationships/slide" Target="/ppt/slides/slide13.xml" Id="R65eff6c2e91c4f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d688ebce0043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DU STORY">
  <a:themeElements>
    <a:clrScheme name="EDU STOR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DU STO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e508474490403b" /><Relationship Type="http://schemas.openxmlformats.org/officeDocument/2006/relationships/notesMaster" Target="/ppt/notesMasters/notesMaster1.xml" Id="R0699954718d746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fb2246d8f543f5" /><Relationship Type="http://schemas.openxmlformats.org/officeDocument/2006/relationships/notesMaster" Target="/ppt/notesMasters/notesMaster1.xml" Id="R2a72c07d8af34e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c9bfccde72480c" /><Relationship Type="http://schemas.openxmlformats.org/officeDocument/2006/relationships/notesMaster" Target="/ppt/notesMasters/notesMaster1.xml" Id="R4664663e638249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805555c979426f" /><Relationship Type="http://schemas.openxmlformats.org/officeDocument/2006/relationships/notesMaster" Target="/ppt/notesMasters/notesMaster1.xml" Id="R24e02f82feef46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2e01c906224fe4" /><Relationship Type="http://schemas.openxmlformats.org/officeDocument/2006/relationships/notesMaster" Target="/ppt/notesMasters/notesMaster1.xml" Id="R0c4366b7f79c41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69c3a3ec9b4be0" /><Relationship Type="http://schemas.openxmlformats.org/officeDocument/2006/relationships/notesMaster" Target="/ppt/notesMasters/notesMaster1.xml" Id="Rf37e82854b4f4d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42bf55dd0040c9" /><Relationship Type="http://schemas.openxmlformats.org/officeDocument/2006/relationships/notesMaster" Target="/ppt/notesMasters/notesMaster1.xml" Id="Rb40f3d35fa9949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305a9e451e4888" /><Relationship Type="http://schemas.openxmlformats.org/officeDocument/2006/relationships/notesMaster" Target="/ppt/notesMasters/notesMaster1.xml" Id="R63475d8a5f7e41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6c8581d78c450a" /><Relationship Type="http://schemas.openxmlformats.org/officeDocument/2006/relationships/notesMaster" Target="/ppt/notesMasters/notesMaster1.xml" Id="R0fd4f9a36b9e44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98cf25e3cc4b34" /><Relationship Type="http://schemas.openxmlformats.org/officeDocument/2006/relationships/notesMaster" Target="/ppt/notesMasters/notesMaster1.xml" Id="Rfc77024462534d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055f44ba084414" /><Relationship Type="http://schemas.openxmlformats.org/officeDocument/2006/relationships/notesMaster" Target="/ppt/notesMasters/notesMaster1.xml" Id="Rbf27c3ddca804a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b6505d72914eaf" /><Relationship Type="http://schemas.openxmlformats.org/officeDocument/2006/relationships/notesMaster" Target="/ppt/notesMasters/notesMaster1.xml" Id="R8734cc49743b41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47ba1ec1464818" /><Relationship Type="http://schemas.openxmlformats.org/officeDocument/2006/relationships/notesMaster" Target="/ppt/notesMasters/notesMaster1.xml" Id="R208db7d924344b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Fixed classroom adaptation of traditional Korean folktales (public-domain source tradition), as authored in src/data/lesson2.ts</a:t>
            </a:r>
          </a:p>
          <a:p xmlns:a="http://schemas.openxmlformats.org/drawingml/2006/main">
            <a:r>
              <a:t>- No external imagery used; composition consists only of editable text, rules, and paper-strip panels.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No external imagery used; composition consists only of editable text, rules, and paper-strip panels.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No external imagery used; composition consists only of editable text, rules, and paper-strip panels.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Fixed classroom adaptation of traditional Korean folktales (public-domain source tradition), as authored in src/data/lesson2.ts</a:t>
            </a:r>
          </a:p>
          <a:p xmlns:a="http://schemas.openxmlformats.org/drawingml/2006/main">
            <a:r>
              <a:t>- No external imagery used; composition consists only of editable text, rules, and paper-strip panels.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Fixed classroom adaptation of traditional Korean folktales (public-domain source tradition), as authored in src/data/lesson2.ts</a:t>
            </a:r>
          </a:p>
          <a:p xmlns:a="http://schemas.openxmlformats.org/drawingml/2006/main">
            <a:r>
              <a:t>- No external imagery used; composition consists only of editable text, rules, and paper-strip panels.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Fixed classroom adaptation of traditional Korean folktales (public-domain source tradition), as authored in src/data/lesson2.ts</a:t>
            </a:r>
          </a:p>
          <a:p xmlns:a="http://schemas.openxmlformats.org/drawingml/2006/main">
            <a:r>
              <a:t>- No external imagery used; composition consists only of editable text, rules, and paper-strip panels.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Fixed classroom adaptation of traditional Korean folktales (public-domain source tradition), as authored in src/data/lesson2.ts</a:t>
            </a:r>
          </a:p>
          <a:p xmlns:a="http://schemas.openxmlformats.org/drawingml/2006/main">
            <a:r>
              <a:t>- No external imagery used; composition consists only of editable text, rules, and paper-strip panels.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Fixed classroom adaptation of traditional Korean folktales (public-domain source tradition), as authored in src/data/lesson2.ts</a:t>
            </a:r>
          </a:p>
          <a:p xmlns:a="http://schemas.openxmlformats.org/drawingml/2006/main">
            <a:r>
              <a:t>- No external imagery used; composition consists only of editable text, rules, and paper-strip panels.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Fixed classroom adaptation of traditional Korean folktales (public-domain source tradition), as authored in src/data/lesson2.ts</a:t>
            </a:r>
          </a:p>
          <a:p xmlns:a="http://schemas.openxmlformats.org/drawingml/2006/main">
            <a:r>
              <a:t>- No external imagery used; composition consists only of editable text, rules, and paper-strip panels.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Fixed classroom adaptation of traditional Korean folktales (public-domain source tradition), as authored in src/data/lesson2.ts</a:t>
            </a:r>
          </a:p>
          <a:p xmlns:a="http://schemas.openxmlformats.org/drawingml/2006/main">
            <a:r>
              <a:t>- Student activity URL: https://edu-story-nine.vercel.app/lesson/2</a:t>
            </a:r>
          </a:p>
          <a:p xmlns:a="http://schemas.openxmlformats.org/drawingml/2006/main">
            <a:r>
              <a:t>- No external imagery used; composition consists only of editable text, rules, and paper-strip panels.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Fixed classroom adaptation of traditional Korean folktales (public-domain source tradition), as authored in src/data/lesson2.ts</a:t>
            </a:r>
          </a:p>
          <a:p xmlns:a="http://schemas.openxmlformats.org/drawingml/2006/main">
            <a:r>
              <a:t>- No external imagery used; composition consists only of editable text, rules, and paper-strip panels.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Fixed classroom adaptation of traditional Korean folktales (public-domain source tradition), as authored in src/data/lesson2.ts</a:t>
            </a:r>
          </a:p>
          <a:p xmlns:a="http://schemas.openxmlformats.org/drawingml/2006/main">
            <a:r>
              <a:t>- No external imagery used; composition consists only of editable text, rules, and paper-strip panels.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curriculum: AI융합_옛이야기그림책_10차시_지도안_1.docx</a:t>
            </a:r>
          </a:p>
          <a:p xmlns:a="http://schemas.openxmlformats.org/drawingml/2006/main">
            <a:r>
              <a:t>- Fixed classroom adaptation of traditional Korean folktales (public-domain source tradition), as authored in src/data/lesson2.ts</a:t>
            </a:r>
          </a:p>
          <a:p xmlns:a="http://schemas.openxmlformats.org/drawingml/2006/main">
            <a:r>
              <a:t>- No external imagery used; composition consists only of editable text, rules, and paper-strip panels.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1224dab914f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c1fa9632354368" /><Relationship Type="http://schemas.openxmlformats.org/officeDocument/2006/relationships/slideLayout" Target="/ppt/slideLayouts/slideLayout1.xml" Id="R8c79b5116e804c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79b5116e804c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EDU STORY">
  <a:themeElements>
    <a:clrScheme name="EDU STOR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DU STO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b5e9a18244df2" /><Relationship Type="http://schemas.openxmlformats.org/officeDocument/2006/relationships/notesSlide" Target="/ppt/notesSlides/notesSlide1.xml" Id="R39ad5258cba64f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92b65694b4a6a" /><Relationship Type="http://schemas.openxmlformats.org/officeDocument/2006/relationships/notesSlide" Target="/ppt/notesSlides/notesSlide2.xml" Id="Rdcc89979586f43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14ef58ad3474e" /><Relationship Type="http://schemas.openxmlformats.org/officeDocument/2006/relationships/notesSlide" Target="/ppt/notesSlides/notesSlide3.xml" Id="R00ec1f206ed245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a98091b1d4176" /><Relationship Type="http://schemas.openxmlformats.org/officeDocument/2006/relationships/notesSlide" Target="/ppt/notesSlides/notesSlide4.xml" Id="R75582280288d46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b5174efbb4e17" /><Relationship Type="http://schemas.openxmlformats.org/officeDocument/2006/relationships/notesSlide" Target="/ppt/notesSlides/notesSlide5.xml" Id="R6f6becdaea7a4c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c4dd0d5064253" /><Relationship Type="http://schemas.openxmlformats.org/officeDocument/2006/relationships/notesSlide" Target="/ppt/notesSlides/notesSlide6.xml" Id="Ra78ca911d49144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cd792d38a4eb6" /><Relationship Type="http://schemas.openxmlformats.org/officeDocument/2006/relationships/notesSlide" Target="/ppt/notesSlides/notesSlide7.xml" Id="Rc65c9d62a29a44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b46494c394074" /><Relationship Type="http://schemas.openxmlformats.org/officeDocument/2006/relationships/notesSlide" Target="/ppt/notesSlides/notesSlide8.xml" Id="R6b29bd6d34eb4b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44a4e9d0d4bff" /><Relationship Type="http://schemas.openxmlformats.org/officeDocument/2006/relationships/notesSlide" Target="/ppt/notesSlides/notesSlide9.xml" Id="R8ff2b1b1e6944a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fec88293a4150" /><Relationship Type="http://schemas.openxmlformats.org/officeDocument/2006/relationships/hyperlink" Target="https://edu-story-nine.vercel.app/lesson/2" TargetMode="External" Id="R73ccd1c4716c49dc" /><Relationship Type="http://schemas.openxmlformats.org/officeDocument/2006/relationships/notesSlide" Target="/ppt/notesSlides/notesSlide10.xml" Id="R6914a26bfc4741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8bdcec9c34257" /><Relationship Type="http://schemas.openxmlformats.org/officeDocument/2006/relationships/notesSlide" Target="/ppt/notesSlides/notesSlide11.xml" Id="Rb3471430968c47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1fc6f0b00427e" /><Relationship Type="http://schemas.openxmlformats.org/officeDocument/2006/relationships/notesSlide" Target="/ppt/notesSlides/notesSlide12.xml" Id="R2c9a114cf44149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9db55ce1145b0" /><Relationship Type="http://schemas.openxmlformats.org/officeDocument/2006/relationships/notesSlide" Target="/ppt/notesSlides/notesSlide13.xml" Id="R4ddb1f4c7a4349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0C818-6440-45A5-9FEF-8BBB0963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C623E-FAD0-4830-B860-A91CEF5E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AI와 함께 만드는 우리 옛이야기 그림책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CBA1E-0C90-4D00-95D9-4FFB9D3E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9C31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6F0DB-178E-48F7-A078-EFD7F0A4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14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48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48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우리가 만들 이야기 정하기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5C766-3FF6-4B52-93F6-1C5783E0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21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21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옛이야기의 인물·사건·배경을 찾고 여섯 장면으로 나눕니다.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74260-F1C4-45EE-907B-B337EEAB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35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2차시 · 창체+국어 · LOOK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EF3BD-62C1-4E9D-80F6-9FD93078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4350"/>
            <a:ext cx="2590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550" b="0">
                <a:solidFill>
                  <a:srgbClr val="E8DDCB"/>
                </a:solidFill>
                <a:latin typeface="S-Core Dream"/>
                <a:ea typeface="S-Core Dream"/>
                <a:cs typeface="S-Core Dream"/>
              </a:defRPr>
            </a:pPr>
            <a:r>
              <a:rPr sz="11550" b="0">
                <a:solidFill>
                  <a:srgbClr val="E8DDCB"/>
                </a:solidFill>
                <a:latin typeface="S-Core Dream"/>
                <a:ea typeface="S-Core Dream"/>
                <a:cs typeface="S-Core Dream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3FC94-581A-47A7-A534-1AE4E28D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241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22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인물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22EE4-E2B3-46C1-BD7B-F297418F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575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70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1904B-5340-4A64-9A19-CB84225A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09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22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배경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110EF-8001-43D9-BF9B-8F544898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433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70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C9D639-B7B9-41FC-918A-87B7FC7B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957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22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사건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287F8-E9EB-40FA-96E1-1F943CFC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291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70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636F9-A9A0-4C50-86B7-2C185127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815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9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여섯 장면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63FE2-1764-4B5B-94B1-E4316269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1495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706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99809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2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79912-B232-4F7A-8266-FB4A2E14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오늘의 질문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63C08-5F2A-4FC7-B2FC-94E07F3A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544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3512F-C504-490F-944B-CD1B3EEE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AEB8B0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AEB8B0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2차시 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DECB0-7961-415C-9E70-2E90D165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AEB8B0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AEB8B0"/>
                </a:solidFill>
                <a:latin typeface="S-Core Dream"/>
                <a:ea typeface="S-Core Dream"/>
                <a:cs typeface="S-Core Dream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FD7E3-F07F-4446-9B34-D85162ED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40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40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옛이야기는 무엇으로 이루어질까요?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CA9A9-BA48-4E73-8276-0F88E95C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D1D7D2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D1D7D2"/>
                </a:solidFill>
                <a:latin typeface="S-Core Dream"/>
                <a:ea typeface="S-Core Dream"/>
                <a:cs typeface="S-Core Dream"/>
              </a:rPr>
              <a:t>이야기를 자세히 살펴보면 꼭 필요한 세 가지를 찾을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AF9F9-606A-4BDC-AFA1-B9F80990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20955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0" b="0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6500" b="0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C882B-4989-4615-AFB8-59E0FA24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43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1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6F46C-8A77-4E8D-AA5E-EAE12DC6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14700"/>
            <a:ext cx="6858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277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277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이야기 속에서 반복해서 찾아야 할 것은 무엇일까요?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3C338-6885-47C7-BB06-D6297986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1965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BBC5BF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BBC5BF"/>
                </a:solidFill>
                <a:latin typeface="S-Core Dream"/>
                <a:ea typeface="S-Core Dream"/>
                <a:cs typeface="S-Core Dream"/>
              </a:rPr>
              <a:t>손을 들고 한 가지를 먼저 말해 봅시다.</a:t>
            </a:r>
          </a:p>
        </p:txBody>
      </p:sp>
    </p:spTree>
    <p:extLst>
      <p:ext uri="{BB962C8B-B14F-4D97-AF65-F5344CB8AC3E}">
        <p14:creationId xmlns:p14="http://schemas.microsoft.com/office/powerpoint/2010/main" val="11116805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EEE2AC-DB13-409C-AED3-536A276B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이야기의 세 요소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C6C06-7E9B-4AE6-BE90-5B791BB3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B3012-79A9-4E2A-923B-A86F552A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2차시 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4894F-E00B-4EC0-962F-E3420A4E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56C2A-EEC5-4B97-A73A-42C739E2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7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307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누가, 어디에서, 어떤 일을 겪는지 찾아봅니다.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376C5A-8E20-46B5-B8D4-669DEB44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E2D5F-0330-400F-BD47-6788208A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33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인물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D558A-3216-4F8C-B05B-3E20413D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E97C0-203F-450A-8F7B-FF43E00F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이야기에 나오는 사람이나 동물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8ED55-18A4-4F71-819D-15B49179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289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59278-9075-44C6-9E52-AFFD1F55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B1B71-D43A-409E-A407-9FAB3CCC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04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33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배경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B4BB9-EE4C-4ACC-A4BA-6A3A0EFE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814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493FD-351A-42C3-A09D-F2E5B1B1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053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이야기가 펼쳐지는 때와 장소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795DB-7525-4C88-9FF7-0B71827E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289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08FBC-D3FA-4BBE-8EE8-001AC9C5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67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25C0B-CC5A-4CAB-9F45-8120A8FF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004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33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사건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B5CD3-8B66-4C1C-88E3-AEF079BA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814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C31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AFE757-B3F7-407C-89E1-5D752B3D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이야기에서 실제로 일어난 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06944-F8C3-486D-8C38-24FDBCAA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19572-DE5D-4198-90CA-73E43517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36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1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인물 · 배경 · 사건</a:t>
            </a:r>
          </a:p>
        </p:txBody>
      </p:sp>
    </p:spTree>
    <p:extLst>
      <p:ext uri="{BB962C8B-B14F-4D97-AF65-F5344CB8AC3E}">
        <p14:creationId xmlns:p14="http://schemas.microsoft.com/office/powerpoint/2010/main" val="1312285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2B0566-209F-4244-BB4B-ECA1ACF3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활동 1 · 이야기 선택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A0406-53FA-4F8B-AC7A-C1A8FECA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A2D70-2711-4BCA-8EA3-8601AA6B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2차시 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CF681-DD88-41B4-9F48-368FD46B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245F1-337C-4853-8E1A-DF11CB0B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45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345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우리 모둠이 만들 옛이야기를 하나 고릅니다.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D8438-D038-406B-A4DF-D8A72AE1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이야기를 고른 뒤, 교사가 검토해 고정한 읽기 자료를 함께 읽어요.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EF154-64E5-48D3-964E-DC2D4797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820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DE"/>
          </a:solidFill>
          <a:ln xmlns:a="http://schemas.openxmlformats.org/drawingml/2006/main" w="19050">
            <a:solidFill>
              <a:srgbClr val="183E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43F18-7DC7-4F89-B5F9-5E5851D4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438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DE440-DBF7-4653-962C-44142960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051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83E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C2469-B98A-46E5-8F1D-8D3E25DC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67000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21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해와 달이 된 오누이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B28FF-4A6A-4A7A-A4DD-82B5730A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67050"/>
            <a:ext cx="977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5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위험을 만난 오누이가 힘을 모아 어려움을 이겨냅니다.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0FAF5-B263-41C5-BB2D-D95637BF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384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3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용기와 지혜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B0F68-1B69-4BAE-9B1E-A1C07F17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0C821-217E-4C2C-86BE-05F42ABB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38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27D58-A65C-4C10-8A1F-381603A7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2F091-7500-49FB-88DD-44D34F79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21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흥부와 놀부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4AA58-411C-4B8F-9E11-2B856A4A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33850"/>
            <a:ext cx="977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5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서로 다른 마음을 가진 두 형제가 박씨를 통해 변화를 만납니다.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989E8E-748B-4046-88A0-A30DFE4E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052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35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나눔과 배려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2FBF78-6A29-4914-8A0F-D195BBB0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820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55759-B2D4-43C8-A0CE-71F2DE62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438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BD5277-A804-4250-9960-EBDF173E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387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F6F9B3-65E3-4117-8F78-E17CBA31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00600"/>
            <a:ext cx="977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21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의좋은 형제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0B594D-2F07-4EA9-B960-7783CAD3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00650"/>
            <a:ext cx="977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5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서로를 생각한 형과 동생이 밤길에서 깊은 우애를 확인합니다.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24E1A2-04FE-4512-940C-BF84BDBD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72050"/>
            <a:ext cx="2114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35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서로 아끼는 마음</a:t>
            </a:r>
          </a:p>
        </p:txBody>
      </p:sp>
    </p:spTree>
    <p:extLst>
      <p:ext uri="{BB962C8B-B14F-4D97-AF65-F5344CB8AC3E}">
        <p14:creationId xmlns:p14="http://schemas.microsoft.com/office/powerpoint/2010/main" val="15810361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CC1237-36DF-4AD8-8246-22D19175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활동 2 · 인물 찾기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EABB4-E175-4225-B4E8-1056CD9C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4EE54-6B32-4A01-942E-5E5066DF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2차시 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75D7B-BEC3-4F84-8EFC-F37310B6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3596E-176E-48C1-B7A7-B96B44F2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9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39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이야기에 누가 나오는지 골라봅니다.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155F2-88A1-4AA1-870E-94C21705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주인공뿐 아니라 사건을 함께 만드는 인물도 찾습니다.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8E4CD-61B2-4E58-8804-94255462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350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해와 달이 된 오누이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6F39B-8145-4BE9-8074-78A8F454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8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8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이야기에 실제로 나오는 인물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46D74-3ED6-43C4-8FDB-48648C3D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A10B6-1835-4F4D-8174-36D2FA17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주인공과 사건을 함께 만드는 인물을 모두 찾습니다.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2410F-BAE1-4192-85A5-878A6234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90800"/>
            <a:ext cx="569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2"/>
          </a:solidFill>
          <a:ln xmlns:a="http://schemas.openxmlformats.org/drawingml/2006/main" w="9525">
            <a:solidFill>
              <a:srgbClr val="183E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14EC7-F6A2-4047-B88E-FD4281AB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670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E8DDCB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E8DDCB"/>
                </a:solidFill>
                <a:latin typeface="S-Core Dream"/>
                <a:ea typeface="S-Core Dream"/>
                <a:cs typeface="S-Core Dream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4042D-8031-4A5F-808B-18D5186B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9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오누이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1978C-A86B-47CE-9FCB-B98AB6AA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670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0">
                <a:solidFill>
                  <a:srgbClr val="DCE7E1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0">
                <a:solidFill>
                  <a:srgbClr val="DCE7E1"/>
                </a:solidFill>
                <a:latin typeface="S-Core Dream"/>
                <a:ea typeface="S-Core Dream"/>
                <a:cs typeface="S-Core Dream"/>
              </a:rPr>
              <a:t>이야기에 나와요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2FFB2-27C2-4F66-8685-28FAD811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19450"/>
            <a:ext cx="569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2"/>
          </a:solidFill>
          <a:ln xmlns:a="http://schemas.openxmlformats.org/drawingml/2006/main" w="9525">
            <a:solidFill>
              <a:srgbClr val="183E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F5309-CA85-4A89-B3DD-D377AA1E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956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E8DDCB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E8DDCB"/>
                </a:solidFill>
                <a:latin typeface="S-Core Dream"/>
                <a:ea typeface="S-Core Dream"/>
                <a:cs typeface="S-Core Dream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03C18-C99A-4749-9686-1DF89FE9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766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9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어머니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AE8DF-C855-4298-BE15-816DDAB6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956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0">
                <a:solidFill>
                  <a:srgbClr val="DCE7E1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0">
                <a:solidFill>
                  <a:srgbClr val="DCE7E1"/>
                </a:solidFill>
                <a:latin typeface="S-Core Dream"/>
                <a:ea typeface="S-Core Dream"/>
                <a:cs typeface="S-Core Dream"/>
              </a:rPr>
              <a:t>이야기에 나와요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75636-CD08-4EC4-BF65-237E8B52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48100"/>
            <a:ext cx="569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2"/>
          </a:solidFill>
          <a:ln xmlns:a="http://schemas.openxmlformats.org/drawingml/2006/main" w="9525">
            <a:solidFill>
              <a:srgbClr val="183E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4D8DA-4F4C-4593-8F74-4B61D27B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243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E8DDCB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E8DDCB"/>
                </a:solidFill>
                <a:latin typeface="S-Core Dream"/>
                <a:ea typeface="S-Core Dream"/>
                <a:cs typeface="S-Core Dream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45383-4A73-4FFF-8940-0A98F1C5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052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9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호랑이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83700B-AA0B-48E3-9222-4CF27948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24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0">
                <a:solidFill>
                  <a:srgbClr val="DCE7E1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0">
                <a:solidFill>
                  <a:srgbClr val="DCE7E1"/>
                </a:solidFill>
                <a:latin typeface="S-Core Dream"/>
                <a:ea typeface="S-Core Dream"/>
                <a:cs typeface="S-Core Dream"/>
              </a:rPr>
              <a:t>이야기에 나와요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9A0A0C-AA1A-47F1-B57D-0F86806A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76750"/>
            <a:ext cx="569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4"/>
          </a:solidFill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BC955E-9A10-4ED7-A399-FAFBAF31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529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6CE27A-7969-422C-9E83-FF206057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339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950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제비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DF3B45-38E4-4CE5-A99D-9FCBBB2C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529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다른 이야기 인물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3F6666-70B4-4FAC-B9B5-878FA758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05400"/>
            <a:ext cx="569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4"/>
          </a:solidFill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54E078-E3FD-471B-ABA5-2C7AB25B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8160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23182A-5786-4A35-84EA-3DE9B10D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625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950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임금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62478A-803E-452C-ACE5-DF254745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1816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2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다른 이야기 인물</a:t>
            </a:r>
          </a:p>
        </p:txBody>
      </p:sp>
    </p:spTree>
    <p:extLst>
      <p:ext uri="{BB962C8B-B14F-4D97-AF65-F5344CB8AC3E}">
        <p14:creationId xmlns:p14="http://schemas.microsoft.com/office/powerpoint/2010/main" val="15866213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E91203-3B71-4055-A2BF-D17E2046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활동 2 · 배경 찾기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A646B-1B56-4B65-948C-7B89D6EE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69D39-7D4E-42D3-8773-5434DF53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2차시 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C983A-76E4-4C6C-AC22-CD65335D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2FBB5-2417-4156-BE9A-433E24BD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9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39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이야기가 펼쳐지는 곳을 골라봅니다.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4C9A5-C2CA-42CB-BA45-4EB66C3D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장소가 달라지면 일어나는 일과 분위기도 달라집니다.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216EA-2E66-4682-8FF0-F8CDA107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384AF-24AA-40A0-8725-08E4E7E0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8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산길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CA6A6-6396-4BC0-A5A4-C1B40BC8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64CCD-C6AE-4967-AF00-C449131F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사건이 시작되는 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02B59-0946-497D-8786-09923AE8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623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0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2100" b="0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41679-6BD3-40DB-AAC7-928E4F09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813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ABC8F-9E6F-48E5-AC86-2C1A7B31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95650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2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오누이의 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5BC6BF-3A68-4205-9DD1-71F8D095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2910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976E6-92A7-4B2E-AFE9-55B9EE26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95800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위험이 찾아오는 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3EF423-4F2B-4BFC-8BB9-1B4B8C32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623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0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2100" b="0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8B9AE-1240-466A-A556-3A7D2031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276FB6-4904-4EAF-AEBE-C1B95C22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95650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8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큰 나무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B7418-0EDB-4332-88BA-3B969A48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2910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C65149-D495-4A59-891B-F1629AF2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오누이가 피하는 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59B6F9-8098-4609-827B-7AD6A9D5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623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0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2100" b="0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7EAF19-D900-4596-8E32-1B4DAE30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813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9CB6B-51AC-4D64-BD46-2A24912C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95650"/>
            <a:ext cx="2324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8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하늘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71EDE2-BD37-4B39-A696-FABCA3B8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2910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C312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C875F1-31B8-4DA3-BCD2-3A497082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95800"/>
            <a:ext cx="2324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이야기가 마무리되는 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86717B-769E-4F6B-A560-7F8E071B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8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장소가 바뀌는 순서를 따라가면 사건의 흐름도 보입니다.</a:t>
            </a:r>
          </a:p>
        </p:txBody>
      </p:sp>
    </p:spTree>
    <p:extLst>
      <p:ext uri="{BB962C8B-B14F-4D97-AF65-F5344CB8AC3E}">
        <p14:creationId xmlns:p14="http://schemas.microsoft.com/office/powerpoint/2010/main" val="15034188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54261C-212E-4C43-AD11-5EDEC3C2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활동 3 · 사건 찾기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7D3CE-9534-4668-B338-A457B012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88C2C-ABC0-4D32-94C0-3E2A6E02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2차시 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A2CD0-1B56-4A5B-80F4-590952B0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27280-16B4-439A-8EAE-FCD55D6F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45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345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사건은 이야기에서 실제로 일어난 일입니다.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46EDF-D996-42CC-B24D-4A0E0733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중요한 사건 여섯 개를 찾으면 그림책의 뼈대가 생깁니다.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104CC-9AFA-42C8-936F-A62DD9EE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31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4"/>
          </a:solidFill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9B68A-D806-4AAC-80D2-5826AA2E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EC7BB-16B7-46AA-BCF9-492B18B9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051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24C17-461B-4E70-8C72-69F7307A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67000"/>
            <a:ext cx="426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어머니가 장에 떡을 팔러 떠나요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0BB62-170E-4983-8436-9018665B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531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4"/>
          </a:solidFill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45A05-01C7-4FAE-AB42-5991164C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61F7D-A46E-4539-A128-679AAC88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051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A3F30-24EB-4774-8804-93E4440D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67000"/>
            <a:ext cx="426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산길에서 호랑이가 어머니를 만나요.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1E7CF-56D6-4D07-8283-9BAB2779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31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C8BC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3EFCA-3A52-4BF7-9608-B6F13321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D674E-1FF9-4ACD-B33B-2A964D51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151B4-FF90-4E7F-95E0-9FB6D890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426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호랑이가 오누이의 집으로 찾아와요.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56466-E733-46E2-B119-78AEF4C6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531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C8BCA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8AD431-3FF2-48B7-9C9C-1408E6B7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7190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069B8-3273-4C24-B7FD-67BB302D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719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E4D21D-121B-4273-8A7E-48C2E5B7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33800"/>
            <a:ext cx="426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오누이가 호랑이를 피해 큰 나무로 올라가요.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F854AD-1939-45FC-B498-6494872A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531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4"/>
          </a:solidFill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6DB817-A46B-4D63-8020-D6AC4791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6FF8A4-F33A-4700-A19F-C7881954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387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D901C9-FD5B-4A48-9950-337B19B9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00600"/>
            <a:ext cx="426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오누이가 하늘을 향해 도와 달라고 빌어요.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BA74F1-AB7D-4469-8378-797AA4E7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05350"/>
            <a:ext cx="531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4"/>
          </a:solidFill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ED0838-33EE-4E2C-9C91-AAC1CA7E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3870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AC7FA9-265B-4CE8-8491-18B8DC7B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387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A07077-D725-4758-B526-66CFCEBF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00600"/>
            <a:ext cx="426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오누이는 해와 달이 되어 하늘을 밝혀요.</a:t>
            </a:r>
          </a:p>
        </p:txBody>
      </p:sp>
    </p:spTree>
    <p:extLst>
      <p:ext uri="{BB962C8B-B14F-4D97-AF65-F5344CB8AC3E}">
        <p14:creationId xmlns:p14="http://schemas.microsoft.com/office/powerpoint/2010/main" val="9711207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2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236574-D091-43EE-8402-BA4916FB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순서 읽는 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93845-E3A4-42F8-B16B-EBBF2B51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544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A9C92-9676-4A53-9853-E47A88C8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AEB8B0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AEB8B0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2차시 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5C790-E507-4DB4-AE90-EFE6B9B2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AEB8B0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AEB8B0"/>
                </a:solidFill>
                <a:latin typeface="S-Core Dream"/>
                <a:ea typeface="S-Core Dream"/>
                <a:cs typeface="S-Core Dream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7E2B1-253B-4646-A40C-CD6CAD9F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9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39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먼저, 그다음, 마지막을 생각합니다.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5EB32-2A52-4572-8781-5E4D2DEC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D1D7D2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D1D7D2"/>
                </a:solidFill>
                <a:latin typeface="S-Core Dream"/>
                <a:ea typeface="S-Core Dream"/>
                <a:cs typeface="S-Core Dream"/>
              </a:rPr>
              <a:t>원인과 결과가 자연스럽게 이어지는지 소리 내어 읽어 보세요.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61F7A-A926-4DB1-A2AB-1A948370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FCDE2-5ECB-452F-A97C-138F2FDF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1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31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먼저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70731-6032-402E-B9D0-189A8215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64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76D3E-A560-4480-A557-52B2C980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BFC8C2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BFC8C2"/>
                </a:solidFill>
                <a:latin typeface="S-Core Dream"/>
                <a:ea typeface="S-Core Dream"/>
                <a:cs typeface="S-Core Dream"/>
              </a:rPr>
              <a:t>이야기가 시작된 까닭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5EDC9-48AA-4556-B4A7-84F5FCCB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623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50" b="0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2250" b="0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01653-E8F0-47C8-AD26-3A62FD06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76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5C5C8-DF8B-4A70-A0C1-AD989E4B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671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1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31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그다음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34BA4-0A66-4C78-B1CA-A88A1153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0530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664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8B86B-F809-4287-B3F1-CD5A09E0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291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BFC8C2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BFC8C2"/>
                </a:solidFill>
                <a:latin typeface="S-Core Dream"/>
                <a:ea typeface="S-Core Dream"/>
                <a:cs typeface="S-Core Dream"/>
              </a:rPr>
              <a:t>이어지는 중요한 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92F6C-6E79-4309-9E0B-868AD659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40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50" b="0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2250" b="0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D925D-96C2-4CD7-924A-EDC69D62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76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5CA8D-FB4B-4C3A-BB5E-828FB731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671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1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31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마지막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28560-6936-4333-8BF1-D910682D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0530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9C312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5081DF-6052-4868-9931-FB864E32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2915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00" b="0">
                <a:solidFill>
                  <a:srgbClr val="BFC8C2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BFC8C2"/>
                </a:solidFill>
                <a:latin typeface="S-Core Dream"/>
                <a:ea typeface="S-Core Dream"/>
                <a:cs typeface="S-Core Dream"/>
              </a:rPr>
              <a:t>사건이 끝난 모습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7A9F97-ED1A-4F18-870F-01E2067D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DEE7DE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1">
                <a:solidFill>
                  <a:srgbClr val="DEE7DE"/>
                </a:solidFill>
                <a:latin typeface="S-Core Dream"/>
                <a:ea typeface="S-Core Dream"/>
                <a:cs typeface="S-Core Dream"/>
              </a:rPr>
              <a:t>원인과 결과가 자연스럽게 이어지는지 소리 내어 읽어 봅니다.</a:t>
            </a:r>
          </a:p>
        </p:txBody>
      </p:sp>
    </p:spTree>
    <p:extLst>
      <p:ext uri="{BB962C8B-B14F-4D97-AF65-F5344CB8AC3E}">
        <p14:creationId xmlns:p14="http://schemas.microsoft.com/office/powerpoint/2010/main" val="10823934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A8F1EB-D9AE-42BC-8B72-6C2EBF2B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사건 순서 맞추기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7DAEF-5FC9-4743-B112-FE90B42C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BC7F5-3BF5-4207-92A0-44BCE979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2차시 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E3EE7-353F-4772-BE30-BB573579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915D8-A571-484D-84CE-BF254E9A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45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345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섞인 사건 카드를 이야기 순서대로 옮겨봅니다.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5ACD9-407D-4381-9944-9443B622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글을 많이 쓰지 않고 카드의 자리를 바꾸어 완성합니다.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2E2B3-A4E2-4252-BDF8-DFB0B147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000">
            <a:off x="723900" y="2628900"/>
            <a:ext cx="5219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AD9F8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696A3-D1EB-4A00-930C-4805DE22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43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CC02A-794E-4A41-91F7-B7F9AB02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62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74AD5-0802-447F-B566-9D1097DC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2415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오누이가 큰 나무로 올라가요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BA1A0-8067-4E63-8863-1CD03185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00">
            <a:off x="6191250" y="2628900"/>
            <a:ext cx="5219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AD9F8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A09E1-17E1-4D29-AAB0-983010EB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62250"/>
            <a:ext cx="43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1CB1D-CFF1-4B61-A895-72D7DA43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62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423DF-1469-4D81-AD94-14BBFCD4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2415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어머니가 장에 떡을 팔러 떠나요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1E90E-A0CE-420D-8145-3F951A15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000">
            <a:off x="723900" y="3619500"/>
            <a:ext cx="5219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AD9F8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17EF3-6757-4051-8EEB-A28C71C2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43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C18A9-DBC3-487A-BCE0-3F47E85F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528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B92332-93B4-4ACF-85A3-1228755F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1475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오누이가 해와 달이 돼요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1F398A-203A-4AA5-8073-B1ECA49D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00">
            <a:off x="6191250" y="3619500"/>
            <a:ext cx="5219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AD9F8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8D034-23D3-41AC-90FE-03388AE8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43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68484-BF78-478A-8E43-954E43A4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528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D438F6-30E4-49D9-AC10-320835A6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1475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호랑이가 오누이의 집에 와요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C27954-E3B7-4077-8AC0-D912F495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000">
            <a:off x="723900" y="4610100"/>
            <a:ext cx="5219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AD9F8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07C8B9-CFD4-4CB3-B3E3-98FA5704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3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45E643-80F9-4236-BB05-12BD3E74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434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A036AA-987C-4AB6-BB92-02A1EF9C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0535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산길에서 호랑이를 만나요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717D7B-CC6A-4BC0-875D-7E54921A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00">
            <a:off x="6191250" y="4610100"/>
            <a:ext cx="5219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AD9F8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FD7BDE-9DBE-42D2-82D0-7D4B86C5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43450"/>
            <a:ext cx="43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B35B66-FC02-45F6-8FC4-5637420F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434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AE67CC-E0EE-4E80-9127-12CEF827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0535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오누이가 하늘에 도움을 빌어요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827A57-B086-45B7-A2F8-59755D3D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70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463603-AEBD-432E-9D6B-AA75ED22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912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A~F 카드를 이야기 순서대로 옮겨 보세요.</a:t>
            </a:r>
          </a:p>
        </p:txBody>
      </p:sp>
    </p:spTree>
    <p:extLst>
      <p:ext uri="{BB962C8B-B14F-4D97-AF65-F5344CB8AC3E}">
        <p14:creationId xmlns:p14="http://schemas.microsoft.com/office/powerpoint/2010/main" val="15564726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82CBC-A0E6-4F98-A446-6B6957A7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학생 활동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363F1-BAE1-4673-8149-9F8A3175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23CFB-D142-4797-A919-D19AF906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2차시 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E17D1-31DE-4D03-BC3A-1841A730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A37FD-502C-48C3-8C27-D76B447B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300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웹앱에서 우리 모둠의 사건 순서를 완성하세요.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166D8-0B99-4E51-81A3-6FFDDCD7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태블릿에서는 끌어서 옮기고, 휴대폰에서는 앞·뒤 버튼으로 움직입니다.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C5ACA-A905-46BD-BB08-594AE12C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42862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4"/>
          </a:solidFill>
          <a:ln xmlns:a="http://schemas.openxmlformats.org/drawingml/2006/main" w="9525">
            <a:solidFill>
              <a:srgbClr val="AD9F8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3C44C-71E0-4FE2-ADF3-59014F07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4381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27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03 / 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F9B29-81F9-4EFB-A859-7E74D917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194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96848-BF6D-45A9-B1C7-59885272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813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15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315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사건 순서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9990F-6388-4A36-8E03-27F2237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81350"/>
            <a:ext cx="32385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우리 모둠이 고른 이야기의 사건 카드를 순서대로 놓습니다.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006C9-F104-4302-8F50-DFB685EE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태블릿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0E1C1-9A64-48A2-A26F-196BEEE8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3752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카드를 손가락으로 끌어서 옮겨요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ED63E8-FE22-419B-8685-1FF57E26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099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C2DB2-AFCC-4454-84A4-3BC1D7CA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576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휴대폰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FFE71-891B-4A0F-B303-84640976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57600"/>
            <a:ext cx="3752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앞으로·뒤로 버튼으로 움직여요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CE4F8-F734-445D-A1DA-29E38C90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862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E91B5-BF1F-4195-96D1-2454C7D0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0535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2"/>
          </a:solidFill>
          <a:ln xmlns:a="http://schemas.openxmlformats.org/drawingml/2006/main" w="9525">
            <a:solidFill>
              <a:srgbClr val="183E32"/>
            </a:solidFill>
            <a:prstDash val="solid"/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1" u="sng">
                <a:solidFill>
                  <a:srgbClr val="FFFFFF"/>
                </a:solidFill>
                <a:latin typeface="S-Core Dream"/>
                <a:ea typeface="S-Core Dream"/>
                <a:cs typeface="S-Core Dream"/>
                <a:hlinkClick xmlns:r="http://schemas.openxmlformats.org/officeDocument/2006/relationships" r:id="R73ccd1c4716c49dc"/>
              </a:rPr>
              <a:t>학생 웹앱 열기  ·  2차시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7B245-31E3-4B0B-AF94-F72CDB7B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24500"/>
            <a:ext cx="529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35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https://edu-story-nine.vercel.app/lesson/2</a:t>
            </a:r>
          </a:p>
        </p:txBody>
      </p:sp>
    </p:spTree>
    <p:extLst>
      <p:ext uri="{BB962C8B-B14F-4D97-AF65-F5344CB8AC3E}">
        <p14:creationId xmlns:p14="http://schemas.microsoft.com/office/powerpoint/2010/main" val="7595569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1C3993-51D2-4555-9AE3-1CD7814C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활동 4 · 여섯 장면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7BFE9-C866-4889-8FE4-5FA3918A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B46E4-6C15-460D-A9BC-FFB498EC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2차시 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BA50F-9423-44D8-A640-F9FB7E27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631CA-38D5-4DD1-BC24-814CD027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45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3450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여섯 사건이 여섯 장면의 제목이 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7487C-2F7D-483C-B43F-CDF570C0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한 장면에 한 가지 중요한 일이 보이도록 나눕니다.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1B1BF-D242-4894-BCDF-34C6274E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F2766-A192-47C3-BAB9-76F4DDAD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12141-8FB7-45AA-9D50-DBF2C3CA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어머니가 장에 떡을 팔러 떠나요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29AB6-DB40-4C9C-BA46-733554E0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289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28836-9F1B-4104-A2DE-081D40CB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24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D9DBC-7C17-4BFE-9DB7-60337E1C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산길에서 호랑이를 만나요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F743F-94C7-49E0-8EB8-7394A17C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CF770B-87C2-4830-BBEE-70317CAC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24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B6C02-2BE3-438E-BE57-0E94066A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호랑이가 오누이의 집에 와요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EA20F-7BA1-4FDD-B4F7-B6E70C97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BBBA27-CDF8-4690-9B5C-9C09F482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15F205-3802-4FCB-9821-50F20EB4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오누이가 큰 나무로 올라가요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9D32B-7A87-4C0C-8A51-280C58CA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529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8C29B-5057-4672-8928-34A0AC7C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856F43-F028-4D6A-B0F0-22732C6A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오누이가 하늘에 도움을 빌어요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E475A6-C11B-4879-B8B6-A250DDA3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529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7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400576-2CEE-49C8-BD77-ED9A4787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482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C31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952B89-505D-4BBE-99C8-FFF9B0C3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387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오누이가 해와 달이 돼요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4D30E1-B6FE-4A9A-9EE9-04ED8A87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8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한 장면에는 중요한 일 한 가지가 보이게 합니다.</a:t>
            </a:r>
          </a:p>
        </p:txBody>
      </p:sp>
    </p:spTree>
    <p:extLst>
      <p:ext uri="{BB962C8B-B14F-4D97-AF65-F5344CB8AC3E}">
        <p14:creationId xmlns:p14="http://schemas.microsoft.com/office/powerpoint/2010/main" val="8705178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39A7DA-AB9F-4339-A130-CB136DAB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더 자세히 알려주기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4D054-0E34-4FE1-9009-31EAFD11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8CA95-81A8-4040-8EF7-ED88207C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2차시 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F0775-4BE7-4522-867D-721B17B9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C4CB3-9F76-4782-B989-86966AFC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6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defRPr>
            </a:pPr>
            <a:r>
              <a:rPr sz="2625" b="1">
                <a:solidFill>
                  <a:srgbClr val="252722"/>
                </a:solidFill>
                <a:latin typeface="S-Core Dream"/>
                <a:ea typeface="S-Core Dream"/>
                <a:cs typeface="S-Core Dream"/>
              </a:rPr>
              <a:t>처음 보는 친구가 이해하려면 무엇을 더 알려줘야 할까요?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41D9C-74A0-4185-AC38-01354120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표정, 시간, 주변 모습, 중요한 물건, 소리 중에서 각 장면마다 하나씩 골라 말해 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7D094-6569-4DDE-8B92-1CACD21F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0E0F6-6C1E-4BB5-AE92-745BEE06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336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1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표정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BA9D5-1152-4384-A379-1A147644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6BF2F-A031-4E74-A4CD-16DC3F95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39FC8-5E12-4B17-9315-8478B829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1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시간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AE3A8-C657-4E2C-AE87-F8092E15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72EF4-0458-48F1-A7B0-449F2AE0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72B2C-354A-462E-9F09-0984EA36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290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1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주변 모습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77540-2A13-492E-812C-BAA7A6B7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C857EC-8C6E-470E-9F82-0B56155E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AE875-5A56-4FE3-B19C-BECBCA6F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1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중요한 물건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B679FB-41FF-4136-858C-A6D0966A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911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2270F2-5D80-467F-A328-AE4191F7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9C3124"/>
                </a:solidFill>
                <a:latin typeface="S-Core Dream"/>
                <a:ea typeface="S-Core Dream"/>
                <a:cs typeface="S-Core Dream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1CF051-F122-452E-B823-2788DCB9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244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1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소리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A6F00-77BE-4139-BD3F-5080E4D9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388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BCA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5B487A-286D-4614-A687-E6629D91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33650"/>
            <a:ext cx="47625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4"/>
          </a:solidFill>
          <a:ln xmlns:a="http://schemas.openxmlformats.org/drawingml/2006/main" w="9525">
            <a:solidFill>
              <a:srgbClr val="AD9F8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4A79D8-A620-4674-8958-40908A4A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956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7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2775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각 장면마다 하나씩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7F4E15-F429-457C-AEA2-C4CBAC1A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9C312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A14834-F78B-4993-AACF-8A7C3C6E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38600"/>
            <a:ext cx="4076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6E6A61"/>
                </a:solidFill>
                <a:latin typeface="S-Core Dream"/>
                <a:ea typeface="S-Core Dream"/>
                <a:cs typeface="S-Core Dream"/>
              </a:rPr>
              <a:t>장면을 이해하는 데 꼭 필요한 추가 정보 한 가지씩을 골라요.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279EF4-E4F9-4904-966A-CE359207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152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ADCCE1-73F5-4022-AA88-BE47BE3F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482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AI에게도 장면을 자세히 알려줘야 해요.</a:t>
            </a:r>
          </a:p>
        </p:txBody>
      </p:sp>
    </p:spTree>
    <p:extLst>
      <p:ext uri="{BB962C8B-B14F-4D97-AF65-F5344CB8AC3E}">
        <p14:creationId xmlns:p14="http://schemas.microsoft.com/office/powerpoint/2010/main" val="10533351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2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4DDF57-5032-4A87-8188-0E7E826F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11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오늘의 정리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AB603-EAF0-4CD6-903A-A676EB17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544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B7BFE-263F-49B1-B7FE-8DFA07B5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AEB8B0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0">
                <a:solidFill>
                  <a:srgbClr val="AEB8B0"/>
                </a:solidFill>
                <a:latin typeface="S-Core Dream"/>
                <a:ea typeface="S-Core Dream"/>
                <a:cs typeface="S-Core Dream"/>
              </a:rPr>
              <a:t>AI와 함께 만드는 우리 옛이야기 그림책 · 2차시 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A011E-E84F-40D4-9D77-F690FE6D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1">
                <a:solidFill>
                  <a:srgbClr val="AEB8B0"/>
                </a:solidFill>
                <a:latin typeface="S-Core Dream"/>
                <a:ea typeface="S-Core Dream"/>
                <a:cs typeface="S-Core Dream"/>
              </a:defRPr>
            </a:pPr>
            <a:r>
              <a:rPr sz="825" b="1">
                <a:solidFill>
                  <a:srgbClr val="AEB8B0"/>
                </a:solidFill>
                <a:latin typeface="S-Core Dream"/>
                <a:ea typeface="S-Core Dream"/>
                <a:cs typeface="S-Core Dream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4F566-ED32-43FD-A9B1-47FF03FC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62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2625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인물·배경·사건을 찾으면 이야기의 뼈대를 만들 수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D6ECA-A5DD-44A0-978B-C40556A5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>
                <a:solidFill>
                  <a:srgbClr val="D1D7D2"/>
                </a:solidFill>
                <a:latin typeface="S-Core Dream"/>
                <a:ea typeface="S-Core Dream"/>
                <a:cs typeface="S-Core Dream"/>
              </a:defRPr>
            </a:pPr>
            <a:r>
              <a:rPr sz="1800" b="0">
                <a:solidFill>
                  <a:srgbClr val="D1D7D2"/>
                </a:solidFill>
                <a:latin typeface="S-Core Dream"/>
                <a:ea typeface="S-Core Dream"/>
                <a:cs typeface="S-Core Dream"/>
              </a:rPr>
              <a:t>우리 모둠의 옛이야기를 여섯 장면으로 완성했습니다.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BD6ED-9D32-4BA1-9335-C6904370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인물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1D162-9917-4135-AB3F-82C5C435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1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E4075-3CA4-462C-BCBE-66F302FA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배경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13B33-247E-423A-B6C4-6651D758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290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1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F5FAE-AB57-4653-9F37-DC24D436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1">
                <a:solidFill>
                  <a:srgbClr val="D58A7E"/>
                </a:solidFill>
                <a:latin typeface="S-Core Dream"/>
                <a:ea typeface="S-Core Dream"/>
                <a:cs typeface="S-Core Dream"/>
              </a:rPr>
              <a:t>사건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D6DF0-8FE3-4938-8160-5B9620CF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1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D8E3A-96B0-41B9-ACF0-F89B8D10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4335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40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defRPr>
            </a:pPr>
            <a:r>
              <a:rPr sz="4050" b="1">
                <a:solidFill>
                  <a:srgbClr val="FFFFFF"/>
                </a:solidFill>
                <a:latin typeface="S-Core Dream"/>
                <a:ea typeface="S-Core Dream"/>
                <a:cs typeface="S-Core Dream"/>
              </a:rPr>
              <a:t>여섯 장면의 이야기 뼈대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AD369-2DA9-4DBD-A4DE-2B38DBDB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5780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C5354-D049-4AEE-A7E9-08D1581D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5305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9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defRPr>
            </a:pPr>
            <a:r>
              <a:rPr sz="1950" b="1">
                <a:solidFill>
                  <a:srgbClr val="183E32"/>
                </a:solidFill>
                <a:latin typeface="S-Core Dream"/>
                <a:ea typeface="S-Core Dream"/>
                <a:cs typeface="S-Core Dream"/>
              </a:rPr>
              <a:t>우리 모둠 이야기판 완성</a:t>
            </a:r>
          </a:p>
        </p:txBody>
      </p:sp>
    </p:spTree>
    <p:extLst>
      <p:ext uri="{BB962C8B-B14F-4D97-AF65-F5344CB8AC3E}">
        <p14:creationId xmlns:p14="http://schemas.microsoft.com/office/powerpoint/2010/main" val="1173093008"/>
      </p:ext>
    </p:extLst>
  </p:cSld>
</p:sld>
</file>

<file path=ppt/theme/theme1.xml><?xml version="1.0" encoding="utf-8"?>
<a:theme xmlns:a="http://schemas.openxmlformats.org/drawingml/2006/main" name="EDU STORY">
  <a:themeElements>
    <a:clrScheme name="EDU STOR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DU STO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Company>EDU STORY</Company>
  <Slides>13</Slides>
  <Notes>13</Notes>
  <HiddenSlides>0</HiddenSlides>
  <SharedDoc>false</SharedDoc>
  <DocSecurity>0</DocSecurit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AI와 함께 만드는 우리 옛이야기 그림책 · 2차시</dc:title>
  <dc:subject>옛이야기의 인물·배경·사건과 여섯 장면 구성</dc:subject>
  <dc:creator>EDU STORY</dc:creator>
  <cp:lastModifiedBy>EDU STORY</cp:lastModifiedBy>
  <dc:description>초등 3~4학년용 2차시 수업 프레젠테이션</dc:description>
  <dcterms:created xsi:type="dcterms:W3CDTF">2026-09-02T05:30:38.274Z</dcterms:created>
  <dcterms:modified xsi:type="dcterms:W3CDTF">2026-09-02T05:30:38.274Z</dcterms:modified>
</cp:coreProperties>
</file>