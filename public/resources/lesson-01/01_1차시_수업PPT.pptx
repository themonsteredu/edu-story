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58a2cbff6a493f" /><Relationship Type="http://schemas.openxmlformats.org/officeDocument/2006/relationships/extended-properties" Target="/docProps/app.xml" Id="Rbf8d833cc2da42e1" /><Relationship Type="http://schemas.openxmlformats.org/officeDocument/2006/relationships/officeDocument" Target="/ppt/presentation.xml" Id="Rc37a48e8389f43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4008014c4a41c1"/>
  </p:sldMasterIdLst>
  <p:notesMasterIdLst>
    <p:notesMasterId xmlns:r="http://schemas.openxmlformats.org/officeDocument/2006/relationships" r:id="R45223fd661c34e06"/>
  </p:notesMasterIdLst>
  <p:sldIdLst>
    <p:sldId xmlns:r="http://schemas.openxmlformats.org/officeDocument/2006/relationships" id="256" r:id="R732fc3de1fb24855"/>
    <p:sldId xmlns:r="http://schemas.openxmlformats.org/officeDocument/2006/relationships" id="257" r:id="Re896fb8f05534069"/>
    <p:sldId xmlns:r="http://schemas.openxmlformats.org/officeDocument/2006/relationships" id="258" r:id="R87dc50d7d8b648e2"/>
    <p:sldId xmlns:r="http://schemas.openxmlformats.org/officeDocument/2006/relationships" id="259" r:id="R8a468dcbaab2452e"/>
    <p:sldId xmlns:r="http://schemas.openxmlformats.org/officeDocument/2006/relationships" id="260" r:id="R34d214af0aa24709"/>
    <p:sldId xmlns:r="http://schemas.openxmlformats.org/officeDocument/2006/relationships" id="261" r:id="R4ab6c310ddc543eb"/>
    <p:sldId xmlns:r="http://schemas.openxmlformats.org/officeDocument/2006/relationships" id="262" r:id="R21bd6625cb0a471a"/>
    <p:sldId xmlns:r="http://schemas.openxmlformats.org/officeDocument/2006/relationships" id="263" r:id="R3bbd0f842dfd490f"/>
    <p:sldId xmlns:r="http://schemas.openxmlformats.org/officeDocument/2006/relationships" id="264" r:id="Rbadd9f05239143c2"/>
    <p:sldId xmlns:r="http://schemas.openxmlformats.org/officeDocument/2006/relationships" id="265" r:id="Rcb8e52395d6541cc"/>
    <p:sldId xmlns:r="http://schemas.openxmlformats.org/officeDocument/2006/relationships" id="266" r:id="R5cc68a6ad21342a3"/>
    <p:sldId xmlns:r="http://schemas.openxmlformats.org/officeDocument/2006/relationships" id="267" r:id="R732812f333c343ac"/>
    <p:sldId xmlns:r="http://schemas.openxmlformats.org/officeDocument/2006/relationships" id="268" r:id="R0130388a53da4646"/>
    <p:sldId xmlns:r="http://schemas.openxmlformats.org/officeDocument/2006/relationships" id="269" r:id="R56409be3e0554bde"/>
    <p:sldId xmlns:r="http://schemas.openxmlformats.org/officeDocument/2006/relationships" id="270" r:id="R028f45429ba849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5c634f34d24ae4" /><Relationship Type="http://schemas.openxmlformats.org/officeDocument/2006/relationships/slideMaster" Target="/ppt/slideMasters/slideMaster1.xml" Id="R304008014c4a41c1" /><Relationship Type="http://schemas.openxmlformats.org/officeDocument/2006/relationships/notesMaster" Target="/ppt/notesMasters/notesMaster1.xml" Id="R45223fd661c34e06" /><Relationship Type="http://schemas.openxmlformats.org/officeDocument/2006/relationships/presProps" Target="/ppt/presProps.xml" Id="Rdc1057eabe98483c" /><Relationship Type="http://schemas.openxmlformats.org/officeDocument/2006/relationships/tableStyles" Target="/ppt/tableStyles.xml" Id="R7e2dfefcfb564e56" /><Relationship Type="http://schemas.openxmlformats.org/officeDocument/2006/relationships/slide" Target="/ppt/slides/slide1.xml" Id="R732fc3de1fb24855" /><Relationship Type="http://schemas.openxmlformats.org/officeDocument/2006/relationships/slide" Target="/ppt/slides/slide2.xml" Id="Re896fb8f05534069" /><Relationship Type="http://schemas.openxmlformats.org/officeDocument/2006/relationships/slide" Target="/ppt/slides/slide3.xml" Id="R87dc50d7d8b648e2" /><Relationship Type="http://schemas.openxmlformats.org/officeDocument/2006/relationships/slide" Target="/ppt/slides/slide4.xml" Id="R8a468dcbaab2452e" /><Relationship Type="http://schemas.openxmlformats.org/officeDocument/2006/relationships/slide" Target="/ppt/slides/slide5.xml" Id="R34d214af0aa24709" /><Relationship Type="http://schemas.openxmlformats.org/officeDocument/2006/relationships/slide" Target="/ppt/slides/slide6.xml" Id="R4ab6c310ddc543eb" /><Relationship Type="http://schemas.openxmlformats.org/officeDocument/2006/relationships/slide" Target="/ppt/slides/slide7.xml" Id="R21bd6625cb0a471a" /><Relationship Type="http://schemas.openxmlformats.org/officeDocument/2006/relationships/slide" Target="/ppt/slides/slide8.xml" Id="R3bbd0f842dfd490f" /><Relationship Type="http://schemas.openxmlformats.org/officeDocument/2006/relationships/slide" Target="/ppt/slides/slide9.xml" Id="Rbadd9f05239143c2" /><Relationship Type="http://schemas.openxmlformats.org/officeDocument/2006/relationships/slide" Target="/ppt/slides/slide10.xml" Id="Rcb8e52395d6541cc" /><Relationship Type="http://schemas.openxmlformats.org/officeDocument/2006/relationships/slide" Target="/ppt/slides/slide11.xml" Id="R5cc68a6ad21342a3" /><Relationship Type="http://schemas.openxmlformats.org/officeDocument/2006/relationships/slide" Target="/ppt/slides/slide12.xml" Id="R732812f333c343ac" /><Relationship Type="http://schemas.openxmlformats.org/officeDocument/2006/relationships/slide" Target="/ppt/slides/slide13.xml" Id="R0130388a53da4646" /><Relationship Type="http://schemas.openxmlformats.org/officeDocument/2006/relationships/slide" Target="/ppt/slides/slide14.xml" Id="R56409be3e0554bde" /><Relationship Type="http://schemas.openxmlformats.org/officeDocument/2006/relationships/slide" Target="/ppt/slides/slide15.xml" Id="R028f45429ba849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88f75f87c942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f07cf90bc246df" /><Relationship Type="http://schemas.openxmlformats.org/officeDocument/2006/relationships/notesMaster" Target="/ppt/notesMasters/notesMaster1.xml" Id="R8b3fe7641a7744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388e91305943bd" /><Relationship Type="http://schemas.openxmlformats.org/officeDocument/2006/relationships/notesMaster" Target="/ppt/notesMasters/notesMaster1.xml" Id="R97e19cc9e44c41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918a77d71546ea" /><Relationship Type="http://schemas.openxmlformats.org/officeDocument/2006/relationships/notesMaster" Target="/ppt/notesMasters/notesMaster1.xml" Id="Re7bb8c83fcff49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545f168176475f" /><Relationship Type="http://schemas.openxmlformats.org/officeDocument/2006/relationships/notesMaster" Target="/ppt/notesMasters/notesMaster1.xml" Id="R79c42b264c0549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de528fd56847bd" /><Relationship Type="http://schemas.openxmlformats.org/officeDocument/2006/relationships/notesMaster" Target="/ppt/notesMasters/notesMaster1.xml" Id="Ra6fe830d77dc49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6453f4929b4423" /><Relationship Type="http://schemas.openxmlformats.org/officeDocument/2006/relationships/notesMaster" Target="/ppt/notesMasters/notesMaster1.xml" Id="R381c544890f242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c123fcafe24926" /><Relationship Type="http://schemas.openxmlformats.org/officeDocument/2006/relationships/notesMaster" Target="/ppt/notesMasters/notesMaster1.xml" Id="R5a283301f8784d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66a67900974113" /><Relationship Type="http://schemas.openxmlformats.org/officeDocument/2006/relationships/notesMaster" Target="/ppt/notesMasters/notesMaster1.xml" Id="R797c10f43eb749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b6cd12551a456a" /><Relationship Type="http://schemas.openxmlformats.org/officeDocument/2006/relationships/notesMaster" Target="/ppt/notesMasters/notesMaster1.xml" Id="R75c9e4035cf342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152a227b22499c" /><Relationship Type="http://schemas.openxmlformats.org/officeDocument/2006/relationships/notesMaster" Target="/ppt/notesMasters/notesMaster1.xml" Id="Raf3a2b71804b4e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054942a80849f1" /><Relationship Type="http://schemas.openxmlformats.org/officeDocument/2006/relationships/notesMaster" Target="/ppt/notesMasters/notesMaster1.xml" Id="Rf844ec49aedb4b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4cd509b6374703" /><Relationship Type="http://schemas.openxmlformats.org/officeDocument/2006/relationships/notesMaster" Target="/ppt/notesMasters/notesMaster1.xml" Id="Rd2cd2b7b6cf649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e07f1f72924d3c" /><Relationship Type="http://schemas.openxmlformats.org/officeDocument/2006/relationships/notesMaster" Target="/ppt/notesMasters/notesMaster1.xml" Id="Redce1b0c2ead49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dee85d66294e91" /><Relationship Type="http://schemas.openxmlformats.org/officeDocument/2006/relationships/notesMaster" Target="/ppt/notesMasters/notesMaster1.xml" Id="R03d1c0e453dc4c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2bf2c5ffcfa47d4" /><Relationship Type="http://schemas.openxmlformats.org/officeDocument/2006/relationships/notesMaster" Target="/ppt/notesMasters/notesMaster1.xml" Id="Rb0c6f560354d41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  <a:p xmlns:a="http://schemas.openxmlformats.org/drawingml/2006/main">
            <a:r>
              <a:t>- Cover illustration: generated for this lesson with OpenAI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  <a:p xmlns:a="http://schemas.openxmlformats.org/drawingml/2006/main">
            <a:r>
              <a:t>- Rainy alley illustration: generated for this lesson with OpenAI image generation.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  <a:p xmlns:a="http://schemas.openxmlformats.org/drawingml/2006/main">
            <a:r>
              <a:t>- Rainy alley illustration: generated for this lesson with OpenAI image generation; replace with the teacher’s live AI result before class.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AI융합_옛이야기그림책_10차시_지도안_1.docx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9b5c483bd4b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9d3bbc4f66416a" /><Relationship Type="http://schemas.openxmlformats.org/officeDocument/2006/relationships/slideLayout" Target="/ppt/slideLayouts/slideLayout1.xml" Id="R651016614d7d49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1016614d7d49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1685713d64747" /><Relationship Type="http://schemas.openxmlformats.org/officeDocument/2006/relationships/image" Target="/ppt/media/image.jpeg" Id="Rd871f92e22984b2d" /><Relationship Type="http://schemas.openxmlformats.org/officeDocument/2006/relationships/notesSlide" Target="/ppt/notesSlides/notesSlide1.xml" Id="R6da83b4e2b9d41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d96a482784175" /><Relationship Type="http://schemas.openxmlformats.org/officeDocument/2006/relationships/notesSlide" Target="/ppt/notesSlides/notesSlide2.xml" Id="R4f72149a7e4d45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1ba6254d04c90" /><Relationship Type="http://schemas.openxmlformats.org/officeDocument/2006/relationships/notesSlide" Target="/ppt/notesSlides/notesSlide3.xml" Id="Ra62d61d6b46541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dbab92db848d2" /><Relationship Type="http://schemas.openxmlformats.org/officeDocument/2006/relationships/notesSlide" Target="/ppt/notesSlides/notesSlide4.xml" Id="R24e494d2024445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20f0887ad427f" /><Relationship Type="http://schemas.openxmlformats.org/officeDocument/2006/relationships/notesSlide" Target="/ppt/notesSlides/notesSlide5.xml" Id="Rbcbdf27b43e342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178f353544b87" /><Relationship Type="http://schemas.openxmlformats.org/officeDocument/2006/relationships/notesSlide" Target="/ppt/notesSlides/notesSlide6.xml" Id="R35d590c4de474b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1f30f6d4e4621" /><Relationship Type="http://schemas.openxmlformats.org/officeDocument/2006/relationships/image" Target="/ppt/media/image2.jpeg" Id="R73a93bc7eee04c40" /><Relationship Type="http://schemas.openxmlformats.org/officeDocument/2006/relationships/notesSlide" Target="/ppt/notesSlides/notesSlide7.xml" Id="Rc555abdacf1d48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1dd6f20724a73" /><Relationship Type="http://schemas.openxmlformats.org/officeDocument/2006/relationships/notesSlide" Target="/ppt/notesSlides/notesSlide8.xml" Id="R88c98aa9ffdf46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f1f22afa64257" /><Relationship Type="http://schemas.openxmlformats.org/officeDocument/2006/relationships/notesSlide" Target="/ppt/notesSlides/notesSlide9.xml" Id="R96cd6a9ded1f40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63ae0b4904f9e" /><Relationship Type="http://schemas.openxmlformats.org/officeDocument/2006/relationships/image" Target="/ppt/media/image3.jpeg" Id="Rbc0bee2fc15f4a81" /><Relationship Type="http://schemas.openxmlformats.org/officeDocument/2006/relationships/notesSlide" Target="/ppt/notesSlides/notesSlide10.xml" Id="Reaad9b77d6f64ca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858ef247f448b" /><Relationship Type="http://schemas.openxmlformats.org/officeDocument/2006/relationships/notesSlide" Target="/ppt/notesSlides/notesSlide11.xml" Id="R7a2afde8558d4e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aab7aeef94e0a" /><Relationship Type="http://schemas.openxmlformats.org/officeDocument/2006/relationships/notesSlide" Target="/ppt/notesSlides/notesSlide12.xml" Id="Rd81250203cd641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508b6b0d94ad7" /><Relationship Type="http://schemas.openxmlformats.org/officeDocument/2006/relationships/notesSlide" Target="/ppt/notesSlides/notesSlide13.xml" Id="Rbcfbab836ddc4f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5e8e379684aab" /><Relationship Type="http://schemas.openxmlformats.org/officeDocument/2006/relationships/notesSlide" Target="/ppt/notesSlides/notesSlide14.xml" Id="R8f0b0e88a1bd4b3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bfeda2326417d" /><Relationship Type="http://schemas.openxmlformats.org/officeDocument/2006/relationships/notesSlide" Target="/ppt/notesSlides/notesSlide15.xml" Id="R8bfbdbc6ce1b40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1f92e22984b2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AC088-7A96-4011-AA2A-1D2A3EF6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AI와 함께 만드는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우리 옛이야기 그림책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88A38-46FA-4B8B-B225-6D128FE3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49530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사람과 AI,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4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누가 더 잘 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C35E7-B11F-4733-AD7D-D51396ED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85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C84E4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6124E-F4B1-4957-94FD-68018753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1차시 · 창체+국어 · LOOK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23095-DED8-4A39-9BC4-EA5BE96A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429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같은 문장을 보고도 서로 다른 장면이 나오는 까닭을 찾아봅니다.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76352-9979-40D3-800A-93EF43C2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초등 3–4학년</a:t>
            </a:r>
          </a:p>
        </p:txBody>
      </p:sp>
    </p:spTree>
    <p:extLst>
      <p:ext uri="{BB962C8B-B14F-4D97-AF65-F5344CB8AC3E}">
        <p14:creationId xmlns:p14="http://schemas.microsoft.com/office/powerpoint/2010/main" val="149835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6F314-28E0-4623-A928-FA9EB196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02 · 오늘의 핵심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7C09E7-E189-46C4-BC1F-2578EA66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675FA-3FAF-4565-B4A6-F931F25F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0D77A-BB2E-438B-AFD9-8CBCC63B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7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7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같은 문장을 들어도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34C42-33CF-495F-840A-3E9420C3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46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사람과 AI는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A3C78A-C1D1-4240-8BCF-516A23D2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876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6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6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똑같이 이해할까요?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4BDC7-5F42-4EC2-B17F-5F7EA533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F897C-C171-4B8D-A8DD-B8929FB5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148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오늘은 “누가 더 잘했는지”가 아니라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ED2014-0519-4378-BDCB-C61B2D3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무엇을 바탕으로 다르게 보았는지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B486E-1245-423F-AF04-318B685F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관찰합니다.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250CB-0BA1-4545-AF6C-3DAE83EE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095750"/>
            <a:ext cx="123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D9AA3E"/>
                </a:solidFill>
                <a:latin typeface="S-Core Dream"/>
                <a:ea typeface="S-Core Dream"/>
                <a:cs typeface="S-Core Dream"/>
              </a:defRPr>
            </a:pPr>
            <a:r>
              <a:rPr sz="8400" b="1">
                <a:solidFill>
                  <a:srgbClr val="D9AA3E"/>
                </a:solidFill>
                <a:latin typeface="S-Core Dream"/>
                <a:ea typeface="S-Core Dream"/>
                <a:cs typeface="S-Core Dream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07002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06948-8CDD-4E12-A1E1-33A3790E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03 · 생각 열기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FB099-B345-45AF-B4E9-2AB47C93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C6901-55F1-4337-B187-26D5E3A2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D5F7D-AD08-451E-9D60-FCD5C7C6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오늘 하루 동안 AI를 만난 적이 있나요?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ADF91-F11A-4F74-B5E9-C51FBAB2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집, 길, 학교, 휴대폰 속 장면을 떠올려 봅시다.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A02A8-231A-46AB-92E8-6F8F95E1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5E4A6-9C65-49B6-BA5F-4B967F13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0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추천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D1BC1-A818-460E-8080-2B0C7B03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25AFE-937B-4B0A-B6AF-C077D11B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보고 싶을 만한 영상이나 음악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0F538-0A4A-4E5F-8272-DD6CD579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861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403647-07CD-4E30-AEC1-8EAE9FBD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음성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9CAD89-09C9-41A4-B105-FD85E1D2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386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4A80E-43C8-48B6-880F-8821BAA0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57700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사람의 말을 듣고 정보 찾기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928A9-6A13-4366-81FE-10C54158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861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E51FE-343E-40AF-8BE1-664A414E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0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인식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C5CA7A-F50E-4AF2-8559-54B92345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386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798493-4DFA-4F65-B995-933B38D7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57700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사진 속 얼굴의 특징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2C9AD-B972-429A-8B8E-C175A1BE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861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4EE10B-DF56-41B7-B2A1-0F23E0F1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242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번역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6BFCEA-0DB7-4ED3-8E16-CF717115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3862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9F6E68-6B85-432B-A069-BF00E194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57700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문장의 뜻에 맞는 표현 제안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210963-9667-4A3A-95AD-51461BD6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내가 만난 AI 장면 한 가지를 짝과 이야기해 봅시다.</a:t>
            </a:r>
          </a:p>
        </p:txBody>
      </p:sp>
    </p:spTree>
    <p:extLst>
      <p:ext uri="{BB962C8B-B14F-4D97-AF65-F5344CB8AC3E}">
        <p14:creationId xmlns:p14="http://schemas.microsoft.com/office/powerpoint/2010/main" val="15091511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65DF08-DF33-4F4D-99CB-9C697397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04 · 활동 1 · 생활 속 AI 찾기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43C6B-34D0-487E-AA00-3B4D69EB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923CB-D201-4568-B6D7-51A3BC89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83C43-3DB0-4279-A649-5A181174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AI가 쓰이는 장면이라고 생각하는 것을 모두 골라 봅시다.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2DAE3-1841-49BA-9DC5-8FCE1EC0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B4DB3-6A67-467B-A9D0-1DF13EEE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241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좋아할 영상 추천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88B6A-7A27-4FE9-8E3E-5EC933B6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242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0FAAB-77E5-4410-9B4A-F6BB45D5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A4864-C6D7-4081-A44F-BE4FB3B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147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말로 오늘 날씨 묻기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DB98A8-4F0E-4ABE-8F3B-68856431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148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A47EE-F83B-48A4-A9B0-4AEAC3DD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ADF42E-4E19-49A2-9825-C28C62B3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05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얼굴을 보고 잠금 풀기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773AD-5042-45E5-94E7-24AEB83F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054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540A1-2D14-4C5B-90CF-3CA56529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850EA9-8128-45D4-8395-FB4650EB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241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스위치를 눌러 전등 켜기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DE62AE-C99B-47E3-81F7-DA07FDBA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242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B120DE-5E97-4196-816B-1740C0CB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147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A95F16-D779-4323-9EE2-FCB27C60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147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자로 연필 길이 재기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88345B-9AA7-49C3-8036-B0F883A9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148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1E05A0-091A-485A-9EAD-B50625D2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05350"/>
            <a:ext cx="533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4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4CA65-F510-463E-9052-7A49B794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05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한국어 문장 자동 번역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BA3C07-F57E-4EAF-8AA9-ADFB1D25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05425"/>
            <a:ext cx="426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FE3440-7880-4447-9B31-D32B7192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생각 단서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06FF20-F774-440F-AD07-345BED3F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8102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무엇을 구별하거나 판단하는지 살펴보세요.</a:t>
            </a:r>
          </a:p>
        </p:txBody>
      </p:sp>
    </p:spTree>
    <p:extLst>
      <p:ext uri="{BB962C8B-B14F-4D97-AF65-F5344CB8AC3E}">
        <p14:creationId xmlns:p14="http://schemas.microsoft.com/office/powerpoint/2010/main" val="4935366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E4E376-58E1-4530-B058-6B70E24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05 · 학생 웹 활동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EE6CB-D94C-475F-BF29-A3D5B209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DF662-8A9B-4704-AD70-D0C9D0C4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125AC-8DCF-496B-95A5-1D8C1B10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장면을 고른 뒤, 까닭까지 확인합니다.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849F2-5397-4788-89C7-DC7796EF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25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11E73-2640-41C1-B484-164EE955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6670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고르기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1BD5D-6814-4457-9244-4B7DF7B5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8605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AI가 쓰인다고 생각하는 장면을 모두 선택합니다.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565E7-0EA4-4BE0-A53F-8DF0AADB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09950"/>
            <a:ext cx="901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B88FF-03F2-4AB3-A741-7FE35FAF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43325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89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5D8718-A054-49D9-A21A-73708067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242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확인하기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61DF9-53FB-4878-B5DB-419FB4F6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43325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정답만 보지 말고 장면 아래의 까닭을 읽습니다.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F6109-442F-4511-866B-364FBB54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67225"/>
            <a:ext cx="901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F05EF-CB6C-4CE7-BF4A-648EC6C3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0060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25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CF2C96-ACB3-4DA6-B45C-DB64271E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다시 생각하기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AF461-0A59-476F-9E25-9122F834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006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자동으로 움직이는 것과 AI를 구별합니다.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3FAFD-1200-4DB4-8BBE-559B804A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선택이 달라도 괜찮아요. 설명을 읽고 생각이 어떻게 바뀌었는지 말해 봅시다.</a:t>
            </a:r>
          </a:p>
        </p:txBody>
      </p:sp>
    </p:spTree>
    <p:extLst>
      <p:ext uri="{BB962C8B-B14F-4D97-AF65-F5344CB8AC3E}">
        <p14:creationId xmlns:p14="http://schemas.microsoft.com/office/powerpoint/2010/main" val="567105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23ABC-9A9A-451E-AB7A-D483F30A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06 · 중간 정리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0E173-FC81-481E-B5A4-DE2F4E18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5B206-3871-4B30-A72B-25EFAA1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5A874-E6E7-4D28-8361-4D46C0C3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모든 자동 기계가 AI인 것은 아닙니다.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7D3C3-15F1-44BE-89D9-B825C0A9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26A51-D6E9-4029-828D-03A58FED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466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9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292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정해진 동작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B3B2E-05E5-48FA-80B3-5F15A6A5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457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사람이 누른 스위치대로 켜짐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도구의 눈금을 사람이 직접 읽음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5C89D-7F50-4463-870A-72276A2F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전등 스위치 · 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E6D55-9845-4D1B-B13A-4577E2C1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19400"/>
            <a:ext cx="466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9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9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자료의 특징 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44D48-BB86-4B3A-A7E2-39375A11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38550"/>
            <a:ext cx="457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기록에서 비슷한 것을 추천함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말·얼굴·문장의 특징을 비교함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ABB47-6E3D-4BF7-A170-9E4F894C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292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추천 · 인식 · 번역</a:t>
            </a:r>
          </a:p>
        </p:txBody>
      </p:sp>
    </p:spTree>
    <p:extLst>
      <p:ext uri="{BB962C8B-B14F-4D97-AF65-F5344CB8AC3E}">
        <p14:creationId xmlns:p14="http://schemas.microsoft.com/office/powerpoint/2010/main" val="15849046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C329A-B948-4F5A-B75A-C49F9EB3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07 · 활동 2 · 같은 문장 읽기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50EB9-1965-46FB-A8DB-C0C4EDDA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CAAFF-D13E-4174-8092-D757CFA9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93bc7eee04c40"/>
          <a:srcRect xmlns:a="http://schemas.openxmlformats.org/drawingml/2006/main" l="12660" t="0" r="126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990600"/>
            <a:ext cx="6572250" cy="4953000"/>
          </a:xfrm>
          <a:prstGeom xmlns:a="http://schemas.openxmlformats.org/drawingml/2006/main" prst="roundRect">
            <a:avLst>
              <a:gd name="adj" fmla="val 346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FA34C-D522-4B68-A081-AF8BE04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095375"/>
            <a:ext cx="3524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문장에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쓰인 것만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찾아볼까요?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2628B-2A0B-477B-982C-8B2C90C0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71750"/>
            <a:ext cx="83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C84E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43C782-D0BD-4335-93CA-31E34D91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33700"/>
            <a:ext cx="3667125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“비 오는 날,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빨간 우산을 쓴 아이가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5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골목길을 걷고 있습니다.”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FB555-0523-467F-8D77-C7BAA729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7685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그림에 있지만 문장에는 없는 것도 찾아봅시다.</a:t>
            </a:r>
          </a:p>
        </p:txBody>
      </p:sp>
    </p:spTree>
    <p:extLst>
      <p:ext uri="{BB962C8B-B14F-4D97-AF65-F5344CB8AC3E}">
        <p14:creationId xmlns:p14="http://schemas.microsoft.com/office/powerpoint/2010/main" val="4759313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352598-434B-4057-AAE4-42099BD0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08 · 먼저, 사람의 상상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037E7-0FB1-42AC-9A51-E3ACFE0A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414EF-6EBE-4D78-9AB8-E034E1CA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07B82-5298-4C3F-B9D3-5853A470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내 머릿속에는 어떤 장면이 떠올랐나요?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DC38-4AA1-4392-95B1-21A00A72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표정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2A97C-B2C2-49C0-A393-90D51EED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2415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웃음? 걱정?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AAC76-8747-4BE4-BE2A-23BA709F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8283E4-2715-44F9-A4B5-08F1F6C3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9BF10-AD7B-44AF-839E-11DE5CEC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6710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낮? 저녁?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828C7-FBD9-4E17-B8AF-95D9C837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3C5BBA-2E90-448D-976F-2B53CF16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분위기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B5E29-991D-4BFE-B661-8C9BF35F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1005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따뜻함? 쓸쓸함?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5D955F-0C04-4BB7-9B3E-DE8BCB3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2F748A-7AFB-4EC8-83F9-8B3FD2B9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162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DE1FF1-7DBC-48FD-A993-7380043E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보슬비? 세찬 비?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D0470-D57D-4B21-9498-0BC91C66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864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CF021-8E10-4CAA-B5C7-3C3A499C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86050"/>
            <a:ext cx="58102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19050">
            <a:solidFill>
              <a:srgbClr val="3E789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172DE-4228-4979-934D-7BF5B879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146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내가 떠올린 장면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DCA34C-E12E-4307-9F31-2E93242C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3855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3D855-2E70-4FD5-BC03-BA51B767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71925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54BA5F-F432-4B5E-8767-A4D44E7B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0530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AF3A49-3360-4A30-AAF8-15FD5BFF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38675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D6D5C-05BB-4EE9-8390-79CCC8B2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972050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98288-0BAB-49AB-82FB-46E024C0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305425"/>
            <a:ext cx="514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8D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856A5-E500-4C0B-BD81-BF89B674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2006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그림이나 짧은 메모로 표현해 봅시다.</a:t>
            </a:r>
          </a:p>
        </p:txBody>
      </p:sp>
    </p:spTree>
    <p:extLst>
      <p:ext uri="{BB962C8B-B14F-4D97-AF65-F5344CB8AC3E}">
        <p14:creationId xmlns:p14="http://schemas.microsoft.com/office/powerpoint/2010/main" val="6068379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00036-AF8C-467C-B5B1-1B7A6052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09 · 이제, AI의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9982B-EDC8-4D00-B12A-87D51C4C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862F8-990F-479B-A644-96DAD1A7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31F32-A330-4852-990F-513496A1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교사가 같은 문장을 AI 이미지 도구에 입력합니다.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AACEB-7B7B-4F90-9964-C29C819C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처음에는 설명을 더 보태지 않고, 결과가 무엇을 스스로 채웠는지 살펴봅니다.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B0315-BA3A-493C-B89B-D303BDA3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10000"/>
            <a:ext cx="8953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4AE28-4BCD-4221-B006-8861BB31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8953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3A2F7-7BA1-428B-951C-67249D55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26670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CF5"/>
          </a:solidFill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4DEB4-E9A4-4A38-906E-8798174E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09900"/>
            <a:ext cx="35814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F625E"/>
          </a:solidFill>
          <a:ln xmlns:a="http://schemas.openxmlformats.org/drawingml/2006/main" w="19050">
            <a:solidFill>
              <a:srgbClr val="1F625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AEBE6-2D97-48CD-A06F-FA28BFED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7432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CF5"/>
          </a:solidFill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2C02B-80F6-48C4-83B3-11FA06E9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같은 문장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449E62-7A4C-4088-8781-4C04B04F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848100"/>
            <a:ext cx="2114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비 · 빨간 우산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아이 · 골목길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7CE7C3-5B56-42A5-8681-8DF7133C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766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AI 이미지 생성 도구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C2EAF5-5BC1-422B-BE83-6B8359FA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048125"/>
            <a:ext cx="1981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3E4AF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1">
                <a:solidFill>
                  <a:srgbClr val="F3E4AF"/>
                </a:solidFill>
                <a:latin typeface="S-Core Dream"/>
                <a:ea typeface="S-Core Dream"/>
                <a:cs typeface="S-Core Dream"/>
              </a:rPr>
              <a:t>교사 시연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1B032-0703-4688-9459-09E505FE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956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결과 관찰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2B5045-56FD-4527-9A85-222DD831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209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시간 · 표정 · 색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새로 생긴 물건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FE6DF3-21B5-4F8E-80BB-B5E73C79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467350"/>
            <a:ext cx="802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72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학생 개인정보나 얼굴 사진은 입력하지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962917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4C267-6EDD-4671-BB10-72802B68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10 · 비교하기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C9FB1-A598-4DDA-8D04-B5BC064A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20080-0052-477E-AD5B-5513454A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04AB3-9A89-49CB-872A-FC28B639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내가 상상한 장면과 AI가 만든 장면을 나란히 봅시다.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FD01C-1318-46FB-8348-B1CF1D32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5000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19050">
            <a:solidFill>
              <a:srgbClr val="3E789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01C36-951C-4E5F-85D6-76ABCBFF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사람 · 나의 상상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38609-A8D9-4DC6-87CD-0AC61F9D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3656D6-DE1F-45B9-9C1E-874E9BFB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17C99-838C-4892-99AB-A496C4B8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9B7D6-4292-4A3B-99D0-7420C201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CADB1-1358-4E04-963B-2DDFB05E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971BC-2D35-489D-8864-D39D749F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A2979-D59D-4C1B-AEE9-23D979F4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8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A8C0D-AE07-40A8-BB5B-71CB7928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5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5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학생 그림 또는 메모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bee2fc15f4a81"/>
          <a:srcRect xmlns:a="http://schemas.openxmlformats.org/drawingml/2006/main" l="3271" t="0" r="32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2609850"/>
            <a:ext cx="5219700" cy="3143250"/>
          </a:xfrm>
          <a:prstGeom xmlns:a="http://schemas.openxmlformats.org/drawingml/2006/main" prst="roundRect">
            <a:avLst>
              <a:gd name="adj" fmla="val 4242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BCF66-5350-41A9-AC9F-1A0C5384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00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AI · 결과 예시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FD9BC7-15C0-4DB5-9AB0-E2AEB64D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52197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25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defRPr>
            </a:pPr>
            <a:r>
              <a:rPr sz="1350" b="1">
                <a:solidFill>
                  <a:srgbClr val="FFFFFF"/>
                </a:solidFill>
                <a:latin typeface="S-Core Dream"/>
                <a:ea typeface="S-Core Dream"/>
                <a:cs typeface="S-Core Dream"/>
              </a:rPr>
              <a:t>수업 전 교사가 실제 결과로 교체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F2B16-4645-4A80-891B-1C419F38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4360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어느 쪽이 더 좋은지가 아니라, 눈에 보이는 근거를 찾습니다.</a:t>
            </a:r>
          </a:p>
        </p:txBody>
      </p:sp>
    </p:spTree>
    <p:extLst>
      <p:ext uri="{BB962C8B-B14F-4D97-AF65-F5344CB8AC3E}">
        <p14:creationId xmlns:p14="http://schemas.microsoft.com/office/powerpoint/2010/main" val="1423802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01A197-65FD-4180-A6AC-BFAE9E03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11 · 관찰하기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05977-4A49-427B-B811-72C76098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B0C45-742B-4AFF-A466-E80DB1AF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C7AD9-ED09-421F-BC76-D2BC7276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같았던 점과 달랐던 점을 관찰표에 적어 봅시다.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2177B-968B-4D7E-ADE5-2D4E2A84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“좋다·나쁘다” 대신 그림에서 확인한 근거로 말합니다.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49D44-60E7-4D47-BE5B-4A2EDEDC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52578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DF2"/>
          </a:solidFill>
          <a:ln xmlns:a="http://schemas.openxmlformats.org/drawingml/2006/main" w="19050">
            <a:solidFill>
              <a:srgbClr val="3E789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6A958-47D1-424D-8FE4-BACDC488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00350"/>
            <a:ext cx="52578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6"/>
          </a:solidFill>
          <a:ln xmlns:a="http://schemas.openxmlformats.org/drawingml/2006/main" w="19050">
            <a:solidFill>
              <a:srgbClr val="1F625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6B87C-6B37-4A1B-8487-31107429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7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27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같았던 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63756-E5EE-47CB-94A1-1FB0F36F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57625"/>
            <a:ext cx="4400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두 그림에 모두 보이는 것은?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문장에 직접 쓰인 것은?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B6611-C91A-4E97-BC94-7B706F17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66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7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달랐던 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46E47-05F5-40CE-AFFD-C0857471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57625"/>
            <a:ext cx="4400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표정·시간·분위기는 어떻게 다른가?</a:t>
            </a:r>
          </a:p>
          <a:p xmlns:a="http://schemas.openxmlformats.org/drawingml/2006/main">
            <a:pPr algn="ctr">
              <a:lnSpc>
                <a:spcPct val="155000"/>
              </a:lnSpc>
              <a:buNone/>
              <a:def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0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한쪽에만 있는 것은?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1FC24-3E8C-46A2-B3FC-72D4BB5D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245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관찰 근거: “그림의 ○○ 부분을 보면…”</a:t>
            </a:r>
          </a:p>
        </p:txBody>
      </p:sp>
    </p:spTree>
    <p:extLst>
      <p:ext uri="{BB962C8B-B14F-4D97-AF65-F5344CB8AC3E}">
        <p14:creationId xmlns:p14="http://schemas.microsoft.com/office/powerpoint/2010/main" val="12162537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7ACE1B-8EA7-4770-A054-9BFE1FFF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12 · 생각 넓히기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4981A-950C-4156-ABDD-5376A27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C7EB1-A0F4-438C-9B83-18A01D13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C0B07-AF41-43EB-B76D-90D98559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8394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367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왜 같은 문장에서 서로 다른 그림이 나왔을까요?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57B12-9DA8-4643-91B4-BF46D5AE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62300"/>
            <a:ext cx="762000" cy="6858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466F7-F1C8-4572-89DA-5D27F03D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086350" y="4629150"/>
            <a:ext cx="8382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D98CE-9E07-4D90-B2A9-AE6B55C6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29150"/>
            <a:ext cx="8382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3C097A-2FED-4DEC-BB39-FA01CB5E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590800"/>
            <a:ext cx="4152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CF5"/>
          </a:solidFill>
          <a:ln xmlns:a="http://schemas.openxmlformats.org/drawingml/2006/main" w="19050">
            <a:solidFill>
              <a:srgbClr val="1839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858D33-3970-4AF5-A419-1AF47979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71775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3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같은 문장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9E887-197A-49F3-A83B-8D5433D6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43375"/>
            <a:ext cx="40195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2EDF2"/>
          </a:solidFill>
          <a:ln xmlns:a="http://schemas.openxmlformats.org/drawingml/2006/main" w="19050">
            <a:solidFill>
              <a:srgbClr val="3E789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196267-F829-413A-9A84-3DC8CFD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8150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사람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30B61-F99E-4AC5-BE65-46A99D8C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958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경험 · 기억 · 느낌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FA2000-1AE5-4D4D-B329-A2C056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143375"/>
            <a:ext cx="40195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DDEBE6"/>
          </a:solidFill>
          <a:ln xmlns:a="http://schemas.openxmlformats.org/drawingml/2006/main" w="19050">
            <a:solidFill>
              <a:srgbClr val="1F625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88A89-44B0-4FE7-A88C-4D3A12BD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8150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1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FAA08-D0A7-4FA3-9035-9E928290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8958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9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학습한 데이터 · 패턴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EBD18-52C1-4C62-942B-B8E445C1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29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2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바탕이 다르기 때문에 채워 넣은 정보와 결과도 달라집니다.</a:t>
            </a:r>
          </a:p>
        </p:txBody>
      </p:sp>
    </p:spTree>
    <p:extLst>
      <p:ext uri="{BB962C8B-B14F-4D97-AF65-F5344CB8AC3E}">
        <p14:creationId xmlns:p14="http://schemas.microsoft.com/office/powerpoint/2010/main" val="652828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6033C-F0F0-4222-91C5-ADB22870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13 · 사람의 이해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A06BE-C818-4004-ACCB-4EF86474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ABF52-47E2-48A7-99C5-96B66F1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14F46-CFE2-4F67-81BB-55E0242F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사람은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8A5C3-3DF4-4146-8656-8ED6B3B5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990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경험과 기억을 떠올리며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FD347-DF76-4E55-9EBA-29424175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장면을 상상합니다.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09890B-D992-40F3-9BBE-3C1FCBD1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9C9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161D64-CA10-49FA-B381-AB1853EC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경험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84EAA-B53A-4086-89B0-B9F1D745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예전에 본 골목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EDE9C-0EC9-4A86-B76E-90C5D02B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67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기억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4D857-FF91-4891-B45D-2469DEB7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482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우산을 썼던 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E595F-44C0-41A1-88C4-D5A04596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30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느낌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BE8A7-47AE-4F3F-B1A1-8304BDBB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4825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비 오는 날의 마음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B3A24-95BF-43E2-9273-28BE70AA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05500"/>
            <a:ext cx="918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그래서 같은 문장도 사람마다 다르게 떠올릴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7611210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3A069-6133-417F-BF3C-A2AD49BE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14 · AI의 이해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285EC8-50D5-48F3-966A-2E172887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FB643-EA7C-4E7A-AC3F-71699863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05D61-8FFB-4E46-A432-C89C9D0E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AI는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D9534-7DC8-4FC7-A2E8-549A3FC9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학습한 데이터에서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D3DA3-991C-415C-B5AB-FEDD5FFB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435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비슷한 특징을 찾습니다.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62FC27-96A6-428C-92A4-000EA6A1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24400"/>
            <a:ext cx="8953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B163F-DC6D-4A3B-9F9A-2BBCFBE0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24400"/>
            <a:ext cx="8953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A3E"/>
          </a:solidFill>
          <a:ln xmlns:a="http://schemas.openxmlformats.org/drawingml/2006/main" w="0">
            <a:solidFill>
              <a:srgbClr val="D9AA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88475-1C84-436D-910D-DBBA429A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많은 문장과 이미지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7A70A-95C3-4B07-82B4-10841368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362450"/>
            <a:ext cx="35433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3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232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특징과 관계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B69F03-8886-475B-A582-5DB0AEFC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6245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새 결과 만들기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36AD5-A34D-47BD-BB39-50557A4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905500"/>
            <a:ext cx="925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8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문장에 없는 부분은 AI가 데이터의 패턴을 바탕으로 채울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490866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79CB6-CB5E-409F-8F3C-6B6C2AE5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1275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15 · 오늘의 정리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13664-A7BD-4367-97AD-3B02AC2F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9C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ACFD0-9716-43E2-899D-1A5D4ECB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defRPr>
            </a:pPr>
            <a:r>
              <a:rPr sz="975" b="0">
                <a:solidFill>
                  <a:srgbClr val="526C6E"/>
                </a:solidFill>
                <a:latin typeface="S-Core Dream"/>
                <a:ea typeface="S-Core Dream"/>
                <a:cs typeface="S-Core Dream"/>
              </a:rPr>
              <a:t>AI와 함께 만드는 우리 옛이야기 그림책 · 1차시 LOOK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600C5-1708-4AA8-80D0-5E500801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2395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2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defRPr>
            </a:pPr>
            <a:r>
              <a:rPr sz="4200" b="1">
                <a:solidFill>
                  <a:srgbClr val="3E7891"/>
                </a:solidFill>
                <a:latin typeface="S-Core Dream"/>
                <a:ea typeface="S-Core Dream"/>
                <a:cs typeface="S-Core Dream"/>
              </a:rPr>
              <a:t>사람은 경험으로,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E4452-5264-4671-B7DD-3C37008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1009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2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defRPr>
            </a:pPr>
            <a:r>
              <a:rPr sz="4200" b="1">
                <a:solidFill>
                  <a:srgbClr val="1F625E"/>
                </a:solidFill>
                <a:latin typeface="S-Core Dream"/>
                <a:ea typeface="S-Core Dream"/>
                <a:cs typeface="S-Core Dream"/>
              </a:rPr>
              <a:t>AI는 데이터로 이해합니다.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AF028-E965-4B5C-AA49-ABA8DA4F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2D07B-F35F-4328-BC46-896498A5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004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생활 속 AI 활용 장면을 찾았습니다.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B9F0A-07F6-4A06-B7EE-38239C4D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6715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B253D-F2C7-4B27-BD40-9447C16B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6715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같은 문장을 보고 사람과 AI의 그림을 비교했습니다.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EFBEB-B442-4B80-90BD-D57B3FBC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defRPr>
            </a:pPr>
            <a:r>
              <a:rPr sz="2250" b="1">
                <a:solidFill>
                  <a:srgbClr val="C84E4E"/>
                </a:solidFill>
                <a:latin typeface="S-Core Dream"/>
                <a:ea typeface="S-Core Dream"/>
                <a:cs typeface="S-Core Dream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1CFE6-2251-44C3-8BEA-1EB2F5FE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339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2025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서로 다른 바탕이 결과에 영향을 준다는 점을 알았습니다.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54D1E-CA62-41D1-AB38-BF910B9B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10200"/>
            <a:ext cx="10534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CF5"/>
          </a:solidFill>
          <a:ln xmlns:a="http://schemas.openxmlformats.org/drawingml/2006/main" w="28575">
            <a:solidFill>
              <a:srgbClr val="D9AA3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123B12-6CE2-4D96-A5E5-CBA64EF6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62600"/>
            <a:ext cx="9925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defRPr>
            </a:pPr>
            <a:r>
              <a:rPr sz="1800" b="1">
                <a:solidFill>
                  <a:srgbClr val="18393B"/>
                </a:solidFill>
                <a:latin typeface="S-Core Dream"/>
                <a:ea typeface="S-Core Dream"/>
                <a:cs typeface="S-Core Dream"/>
              </a:rPr>
              <a:t>나의 한 문장  |  오늘 새롭게 알게 된 점은 ________________________________</a:t>
            </a:r>
          </a:p>
        </p:txBody>
      </p:sp>
    </p:spTree>
    <p:extLst>
      <p:ext uri="{BB962C8B-B14F-4D97-AF65-F5344CB8AC3E}">
        <p14:creationId xmlns:p14="http://schemas.microsoft.com/office/powerpoint/2010/main" val="13271473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2026-09-01T16:24:51.4200000Z</dcterms:created>
  <dcterms:modified xsi:type="dcterms:W3CDTF">2026-09-01T16:24:51.4200000Z</dcterms:modified>
</coreProperties>
</file>