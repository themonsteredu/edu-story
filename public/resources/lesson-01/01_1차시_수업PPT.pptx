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사람과 AI, 누가 더 잘 볼까?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1차시 · 창체+국어 · 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1</a:t>
            </a:r>
          </a:p>
        </p:txBody>
      </p:sp>
      <p:sp>
        <p:nvSpPr>
          <p:cNvPr id="8" name="Rounded Rectangle 7"/>
          <p:cNvSpPr/>
          <p:nvPr/>
        </p:nvSpPr>
        <p:spPr>
          <a:xfrm rot="21180000">
            <a:off x="7360920" y="1920240"/>
            <a:ext cx="3429000" cy="3246120"/>
          </a:xfrm>
          <a:prstGeom prst="roundRect">
            <a:avLst/>
          </a:prstGeom>
          <a:solidFill>
            <a:srgbClr val="D3AA45"/>
          </a:solidFill>
          <a:ln w="12700">
            <a:solidFill>
              <a:srgbClr val="D3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80" y="4297680"/>
            <a:ext cx="25603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-Core Dream"/>
              </a:rPr>
              <a:t>사람의 상상</a:t>
            </a:r>
          </a:p>
        </p:txBody>
      </p:sp>
      <p:sp>
        <p:nvSpPr>
          <p:cNvPr id="10" name="Rounded Rectangle 9"/>
          <p:cNvSpPr/>
          <p:nvPr/>
        </p:nvSpPr>
        <p:spPr>
          <a:xfrm rot="300000">
            <a:off x="7726679" y="1600200"/>
            <a:ext cx="3429000" cy="3246120"/>
          </a:xfrm>
          <a:prstGeom prst="roundRect">
            <a:avLst/>
          </a:prstGeom>
          <a:solidFill>
            <a:srgbClr val="3B6F88"/>
          </a:solidFill>
          <a:ln w="12700">
            <a:solidFill>
              <a:srgbClr val="3B6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977639"/>
            <a:ext cx="25603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-Core Dream"/>
              </a:rPr>
              <a:t>AI의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170432"/>
            <a:ext cx="3429000" cy="3246120"/>
          </a:xfrm>
          <a:prstGeom prst="round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3547872"/>
            <a:ext cx="25603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-Core Dream"/>
              </a:rPr>
              <a:t>우리의 이야기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오늘의 핵심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같은 문장을 들어도 사람과 AI는 똑같이 이해할까요?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2</a:t>
            </a:r>
          </a:p>
        </p:txBody>
      </p:sp>
      <p:sp>
        <p:nvSpPr>
          <p:cNvPr id="7" name="Oval 6"/>
          <p:cNvSpPr/>
          <p:nvPr/>
        </p:nvSpPr>
        <p:spPr>
          <a:xfrm>
            <a:off x="8275320" y="1417320"/>
            <a:ext cx="2743200" cy="2743200"/>
          </a:xfrm>
          <a:prstGeom prst="ellipse">
            <a:avLst/>
          </a:prstGeom>
          <a:solidFill>
            <a:srgbClr val="EFD88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7600" b="1">
                <a:solidFill>
                  <a:srgbClr val="745D27"/>
                </a:solidFill>
                <a:latin typeface="S-Core Dream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069080"/>
            <a:ext cx="41148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5D59"/>
                </a:solidFill>
                <a:latin typeface="S-Core Dream"/>
              </a:rPr>
              <a:t>먼저 예상해 봅시다.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4206240" cy="10515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3A3E"/>
                </a:solidFill>
                <a:latin typeface="S-Core Dream"/>
              </a:rPr>
              <a:t>똑같을 것이다
조금 다를 것이다
아주 다를 것이다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생각 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오늘 하루 동안 AI를 만난 적이 있나요?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집, 길, 학교, 휴대폰 속 장면을 떠올려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3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1188720"/>
            <a:ext cx="1600200" cy="1600200"/>
          </a:xfrm>
          <a:prstGeom prst="ellipse">
            <a:avLst/>
          </a:prstGeom>
          <a:solidFill>
            <a:srgbClr val="3B6F88"/>
          </a:solidFill>
          <a:ln w="12700">
            <a:solidFill>
              <a:srgbClr val="3B6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영상 추천</a:t>
            </a:r>
          </a:p>
        </p:txBody>
      </p:sp>
      <p:sp>
        <p:nvSpPr>
          <p:cNvPr id="9" name="Oval 8"/>
          <p:cNvSpPr/>
          <p:nvPr/>
        </p:nvSpPr>
        <p:spPr>
          <a:xfrm>
            <a:off x="9646920" y="1508760"/>
            <a:ext cx="1600200" cy="160020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음성 비서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3749039"/>
            <a:ext cx="1600200" cy="1600200"/>
          </a:xfrm>
          <a:prstGeom prst="ellipse">
            <a:avLst/>
          </a:prstGeom>
          <a:solidFill>
            <a:srgbClr val="8A6A45"/>
          </a:solidFill>
          <a:ln w="12700">
            <a:solidFill>
              <a:srgbClr val="8A6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얼굴 인식</a:t>
            </a:r>
          </a:p>
        </p:txBody>
      </p:sp>
      <p:sp>
        <p:nvSpPr>
          <p:cNvPr id="11" name="Oval 10"/>
          <p:cNvSpPr/>
          <p:nvPr/>
        </p:nvSpPr>
        <p:spPr>
          <a:xfrm>
            <a:off x="9829800" y="3886200"/>
            <a:ext cx="1600200" cy="1600200"/>
          </a:xfrm>
          <a:prstGeom prst="ellipse">
            <a:avLst/>
          </a:prstGeom>
          <a:solidFill>
            <a:srgbClr val="8C5968"/>
          </a:solidFill>
          <a:ln w="12700">
            <a:solidFill>
              <a:srgbClr val="8C5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S-Core Dream"/>
              </a:rPr>
              <a:t>자동 번역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971800"/>
            <a:ext cx="173736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5D59"/>
                </a:solidFill>
                <a:latin typeface="S-Core Dream"/>
              </a:rPr>
              <a:t>나의 경험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활동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생활 속에서 AI가 쓰이는 장면을 찾아봅시다.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43200"/>
            <a:ext cx="3401568" cy="130759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3B6F88"/>
          </a:solidFill>
          <a:ln w="12700">
            <a:solidFill>
              <a:srgbClr val="3B6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S-Core Dream"/>
              </a:rPr>
              <a:t>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907792"/>
            <a:ext cx="246888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33A3E"/>
                </a:solidFill>
                <a:latin typeface="S-Core Dream"/>
              </a:rPr>
              <a:t>영상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93008"/>
            <a:ext cx="3035808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47779"/>
                </a:solidFill>
                <a:latin typeface="S-Core Dream"/>
              </a:rPr>
              <a:t>전에 본 영상과 비슷한 것을 골라 보여 줍니다.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2743200"/>
            <a:ext cx="3401568" cy="130759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5152" y="2926080"/>
            <a:ext cx="457200" cy="45720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S-Core Dream"/>
              </a:rPr>
              <a:t>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907792"/>
            <a:ext cx="246888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33A3E"/>
                </a:solidFill>
                <a:latin typeface="S-Core Dream"/>
              </a:rPr>
              <a:t>음성 날씨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493008"/>
            <a:ext cx="3035808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47779"/>
                </a:solidFill>
                <a:latin typeface="S-Core Dream"/>
              </a:rPr>
              <a:t>사람의 말을 알아듣고 알맞은 정보를 찾습니다.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3" y="2743200"/>
            <a:ext cx="3401568" cy="130759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67343" y="2926080"/>
            <a:ext cx="457200" cy="457200"/>
          </a:xfrm>
          <a:prstGeom prst="ellipse">
            <a:avLst/>
          </a:prstGeom>
          <a:solidFill>
            <a:srgbClr val="8A6A45"/>
          </a:solidFill>
          <a:ln w="12700">
            <a:solidFill>
              <a:srgbClr val="8A6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S-Core Dream"/>
              </a:rPr>
              <a:t>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3" y="2907792"/>
            <a:ext cx="246888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33A3E"/>
                </a:solidFill>
                <a:latin typeface="S-Core Dream"/>
              </a:rPr>
              <a:t>얼굴 인식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7343" y="3493008"/>
            <a:ext cx="3035808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47779"/>
                </a:solidFill>
                <a:latin typeface="S-Core Dream"/>
              </a:rPr>
              <a:t>등록한 얼굴과 지금 얼굴의 특징을 비교합니다.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15968"/>
            <a:ext cx="3401568" cy="130759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59" y="4498848"/>
            <a:ext cx="457200" cy="457200"/>
          </a:xfrm>
          <a:prstGeom prst="ellipse">
            <a:avLst/>
          </a:prstGeom>
          <a:solidFill>
            <a:srgbClr val="778482"/>
          </a:solidFill>
          <a:ln w="12700">
            <a:solidFill>
              <a:srgbClr val="77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S-Core Dream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480559"/>
            <a:ext cx="246888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33A3E"/>
                </a:solidFill>
                <a:latin typeface="S-Core Dream"/>
              </a:rPr>
              <a:t>전등 스위치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5065776"/>
            <a:ext cx="3035808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47779"/>
                </a:solidFill>
                <a:latin typeface="S-Core Dream"/>
              </a:rPr>
              <a:t>사람이 누르면 정해진 방식으로 켜집니다.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2272" y="4315968"/>
            <a:ext cx="3401568" cy="130759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5152" y="4498848"/>
            <a:ext cx="457200" cy="457200"/>
          </a:xfrm>
          <a:prstGeom prst="ellipse">
            <a:avLst/>
          </a:prstGeom>
          <a:solidFill>
            <a:srgbClr val="778482"/>
          </a:solidFill>
          <a:ln w="12700">
            <a:solidFill>
              <a:srgbClr val="778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S-Core Dream"/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4480559"/>
            <a:ext cx="246888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33A3E"/>
                </a:solidFill>
                <a:latin typeface="S-Core Dream"/>
              </a:rPr>
              <a:t>자로 길이 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5065776"/>
            <a:ext cx="3035808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47779"/>
                </a:solidFill>
                <a:latin typeface="S-Core Dream"/>
              </a:rPr>
              <a:t>사람이 눈금을 보고 직접 길이를 읽습니다.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84463" y="4315968"/>
            <a:ext cx="3401568" cy="130759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67343" y="4498848"/>
            <a:ext cx="457200" cy="457200"/>
          </a:xfrm>
          <a:prstGeom prst="ellipse">
            <a:avLst/>
          </a:prstGeom>
          <a:solidFill>
            <a:srgbClr val="8C5968"/>
          </a:solidFill>
          <a:ln w="12700">
            <a:solidFill>
              <a:srgbClr val="8C5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800" b="1">
                <a:solidFill>
                  <a:srgbClr val="FFFFFF"/>
                </a:solidFill>
                <a:latin typeface="S-Core Dream"/>
              </a:rPr>
              <a:t>가A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3" y="4480559"/>
            <a:ext cx="2468880" cy="43891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33A3E"/>
                </a:solidFill>
                <a:latin typeface="S-Core Dream"/>
              </a:rPr>
              <a:t>자동 번역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3" y="5065776"/>
            <a:ext cx="3035808" cy="4297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647779"/>
                </a:solidFill>
                <a:latin typeface="S-Core Dream"/>
              </a:rPr>
              <a:t>문장의 뜻에 어울리는 다른 언어 표현을 제안합니다.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학생 웹 활동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AI라고 생각하는 장면을 모두 선택하세요.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선택한 뒤 카드 아래 설명을 읽으며 생각을 확인합니다.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143000"/>
            <a:ext cx="3794760" cy="43708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389888"/>
            <a:ext cx="109728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5D59"/>
                </a:solidFill>
                <a:latin typeface="S-Core Dream"/>
              </a:rPr>
              <a:t>학생 화면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1389888" cy="713232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984248"/>
            <a:ext cx="1243584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3A3E"/>
                </a:solidFill>
                <a:latin typeface="S-Core Dream"/>
              </a:rPr>
              <a:t>영상 추천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37192" y="1828800"/>
            <a:ext cx="1389888" cy="713232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10344" y="1984248"/>
            <a:ext cx="1243584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3A3E"/>
                </a:solidFill>
                <a:latin typeface="S-Core Dream"/>
              </a:rPr>
              <a:t>음성 날씨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770632"/>
            <a:ext cx="1389888" cy="713232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2926080"/>
            <a:ext cx="1243584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3A3E"/>
                </a:solidFill>
                <a:latin typeface="S-Core Dream"/>
              </a:rPr>
              <a:t>얼굴 인식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2770632"/>
            <a:ext cx="1389888" cy="713232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0344" y="2926080"/>
            <a:ext cx="1243584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3A3E"/>
                </a:solidFill>
                <a:latin typeface="S-Core Dream"/>
              </a:rPr>
              <a:t>전등 스위치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712464"/>
            <a:ext cx="1389888" cy="713232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867912"/>
            <a:ext cx="1243584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3A3E"/>
                </a:solidFill>
                <a:latin typeface="S-Core Dream"/>
              </a:rPr>
              <a:t>자로 길이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3712464"/>
            <a:ext cx="1389888" cy="713232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10344" y="3867912"/>
            <a:ext cx="1243584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33A3E"/>
                </a:solidFill>
                <a:latin typeface="S-Core Dream"/>
              </a:rPr>
              <a:t>자동 번역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892040"/>
            <a:ext cx="1645920" cy="438912"/>
          </a:xfrm>
          <a:prstGeom prst="round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4928616"/>
            <a:ext cx="155448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-Core Dream"/>
              </a:rPr>
              <a:t>선택 확인하기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중간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모든 자동 기계가 AI인 것은 아닙니다.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자료의 특징을 구별하거나, 비슷한 것을 찾아 결과를 내는 장면에 주목합니다.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234440"/>
            <a:ext cx="1828800" cy="4160520"/>
          </a:xfrm>
          <a:prstGeom prst="roundRect">
            <a:avLst/>
          </a:prstGeom>
          <a:solidFill>
            <a:srgbClr val="F6F3EA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572768"/>
            <a:ext cx="14630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778482"/>
                </a:solidFill>
                <a:latin typeface="S-Core Dream"/>
              </a:rPr>
              <a:t>정해진 동작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331720"/>
            <a:ext cx="1371600" cy="1828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778482"/>
                </a:solidFill>
                <a:latin typeface="S-Core Dream"/>
              </a:rPr>
              <a:t>스위치
눈금
타이머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234440"/>
            <a:ext cx="1828800" cy="4160520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59" y="1572768"/>
            <a:ext cx="146304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5D59"/>
                </a:solidFill>
                <a:latin typeface="S-Core Dream"/>
              </a:rPr>
              <a:t>특징과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331720"/>
            <a:ext cx="1371600" cy="18288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54541"/>
                </a:solidFill>
                <a:latin typeface="S-Core Dream"/>
              </a:rPr>
              <a:t>추천
인식
번역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활동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같은 문장을 함께 읽어 봅시다.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10332720" cy="2148840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146304" cy="2148840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9464040" cy="12344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154541"/>
                </a:solidFill>
                <a:latin typeface="S-Core Dream"/>
              </a:rPr>
              <a:t>“비 오는 날, 빨간 우산을 쓴 아이가 골목길을 걷고 있습니다.”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먼저, 사람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내 머릿속에는 어떤 장면이 떠올랐나요?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표정, 시간, 골목 분위기, 비의 모습은 사람마다 다를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8</a:t>
            </a:r>
          </a:p>
        </p:txBody>
      </p:sp>
      <p:sp>
        <p:nvSpPr>
          <p:cNvPr id="8" name="Oval 7"/>
          <p:cNvSpPr/>
          <p:nvPr/>
        </p:nvSpPr>
        <p:spPr>
          <a:xfrm>
            <a:off x="8366760" y="1874519"/>
            <a:ext cx="2331720" cy="2331720"/>
          </a:xfrm>
          <a:prstGeom prst="ellipse">
            <a:avLst/>
          </a:prstGeom>
          <a:solidFill>
            <a:srgbClr val="3B6F88"/>
          </a:solidFill>
          <a:ln w="12700">
            <a:solidFill>
              <a:srgbClr val="3B6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300" b="1">
                <a:solidFill>
                  <a:srgbClr val="FFFFFF"/>
                </a:solidFill>
                <a:latin typeface="S-Core Dream"/>
              </a:rPr>
              <a:t>나의
경험</a:t>
            </a:r>
          </a:p>
        </p:txBody>
      </p:sp>
      <p:sp>
        <p:nvSpPr>
          <p:cNvPr id="9" name="Oval 8"/>
          <p:cNvSpPr/>
          <p:nvPr/>
        </p:nvSpPr>
        <p:spPr>
          <a:xfrm>
            <a:off x="7498079" y="1051560"/>
            <a:ext cx="1024128" cy="1024128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233A3E"/>
                </a:solidFill>
                <a:latin typeface="S-Core Dream"/>
              </a:rPr>
              <a:t>표정</a:t>
            </a:r>
          </a:p>
        </p:txBody>
      </p:sp>
      <p:sp>
        <p:nvSpPr>
          <p:cNvPr id="10" name="Oval 9"/>
          <p:cNvSpPr/>
          <p:nvPr/>
        </p:nvSpPr>
        <p:spPr>
          <a:xfrm>
            <a:off x="10149840" y="1234440"/>
            <a:ext cx="1024128" cy="1024128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233A3E"/>
                </a:solidFill>
                <a:latin typeface="S-Core Dream"/>
              </a:rPr>
              <a:t>시간</a:t>
            </a:r>
          </a:p>
        </p:txBody>
      </p:sp>
      <p:sp>
        <p:nvSpPr>
          <p:cNvPr id="11" name="Oval 10"/>
          <p:cNvSpPr/>
          <p:nvPr/>
        </p:nvSpPr>
        <p:spPr>
          <a:xfrm>
            <a:off x="10104120" y="4160520"/>
            <a:ext cx="1024128" cy="1024128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233A3E"/>
                </a:solidFill>
                <a:latin typeface="S-Core Dream"/>
              </a:rPr>
              <a:t>분위기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0" y="4297680"/>
            <a:ext cx="1024128" cy="1024128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200" b="1">
                <a:solidFill>
                  <a:srgbClr val="233A3E"/>
                </a:solidFill>
                <a:latin typeface="S-Core Dream"/>
              </a:rPr>
              <a:t>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이제,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교사가 같은 문장을 AI 이미지 생성 도구에 입력합니다.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AI에게 문장을 더 설명하지 않고 먼저 결과를 살펴봅니다.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3429000" cy="8229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618488"/>
            <a:ext cx="29718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같은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40280"/>
            <a:ext cx="5943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F5D59"/>
                </a:solidFill>
                <a:latin typeface="S-Core Dream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743200"/>
            <a:ext cx="3429000" cy="822960"/>
          </a:xfrm>
          <a:prstGeom prst="round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944368"/>
            <a:ext cx="29718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-Core Dream"/>
              </a:rPr>
              <a:t>AI 이미지 생성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566160"/>
            <a:ext cx="59436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F5D59"/>
                </a:solidFill>
                <a:latin typeface="S-Core Dream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4069080"/>
            <a:ext cx="3429000" cy="822960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270248"/>
            <a:ext cx="297180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결과 관찰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비교하기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내가 상상한 그림과 AI가 만든 그림을 나란히 봅시다.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743200"/>
            <a:ext cx="5212080" cy="2542032"/>
          </a:xfrm>
          <a:prstGeom prst="roundRect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7" y="3017520"/>
            <a:ext cx="82296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B6F88"/>
                </a:solidFill>
                <a:latin typeface="S-Core Dream"/>
              </a:rPr>
              <a:t>사람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703320"/>
            <a:ext cx="4389120" cy="6583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233A3E"/>
                </a:solidFill>
                <a:latin typeface="S-Core Dream"/>
              </a:rPr>
              <a:t>내가 떠올린 장면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743200"/>
            <a:ext cx="5212080" cy="2542032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017520"/>
            <a:ext cx="822960" cy="3657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5D59"/>
                </a:solidFill>
                <a:latin typeface="S-Core Dream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7688" y="3703320"/>
            <a:ext cx="4389120" cy="6583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54541"/>
                </a:solidFill>
                <a:latin typeface="S-Core Dream"/>
              </a:rPr>
              <a:t>AI가 만든 장면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관찰하기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같았던 점과 달랐던 점은 무엇인가요?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좋다·나쁘다가 아니라, 눈에 보이는 근거로 말해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11</a:t>
            </a:r>
          </a:p>
        </p:txBody>
      </p:sp>
      <p:sp>
        <p:nvSpPr>
          <p:cNvPr id="8" name="Oval 7"/>
          <p:cNvSpPr/>
          <p:nvPr/>
        </p:nvSpPr>
        <p:spPr>
          <a:xfrm>
            <a:off x="7452360" y="1828800"/>
            <a:ext cx="3017520" cy="3017520"/>
          </a:xfrm>
          <a:prstGeom prst="ellipse">
            <a:avLst/>
          </a:prstGeom>
          <a:solidFill>
            <a:srgbClr val="3B6F88"/>
          </a:solidFill>
          <a:ln w="12700">
            <a:solidFill>
              <a:srgbClr val="3B6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100" b="1">
                <a:solidFill>
                  <a:srgbClr val="FFFFFF"/>
                </a:solidFill>
                <a:latin typeface="S-Core Dream"/>
              </a:rPr>
              <a:t>같았던 점</a:t>
            </a:r>
          </a:p>
        </p:txBody>
      </p:sp>
      <p:sp>
        <p:nvSpPr>
          <p:cNvPr id="9" name="Oval 8"/>
          <p:cNvSpPr/>
          <p:nvPr/>
        </p:nvSpPr>
        <p:spPr>
          <a:xfrm>
            <a:off x="9098280" y="1828800"/>
            <a:ext cx="3017520" cy="301752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100" b="1">
                <a:solidFill>
                  <a:srgbClr val="FFFFFF"/>
                </a:solidFill>
                <a:latin typeface="S-Core Dream"/>
              </a:rPr>
              <a:t>달랐던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971800"/>
            <a:ext cx="1508760" cy="45720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-Core Dream"/>
              </a:rPr>
              <a:t>관찰 근거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생각 넓히기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왜 같은 문장에서 서로 다른 그림이 나왔을까요?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71231" y="1234440"/>
            <a:ext cx="3657600" cy="841248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444752"/>
            <a:ext cx="32461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같은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057400"/>
            <a:ext cx="5029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5D59"/>
                </a:solidFill>
                <a:latin typeface="S-Core Dream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2651760"/>
            <a:ext cx="3657600" cy="841248"/>
          </a:xfrm>
          <a:prstGeom prst="roundRect">
            <a:avLst/>
          </a:prstGeom>
          <a:solidFill>
            <a:srgbClr val="EFD88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2862072"/>
            <a:ext cx="32461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서로 다른 바탕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474720"/>
            <a:ext cx="502920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5D59"/>
                </a:solidFill>
                <a:latin typeface="S-Core Dream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4069080"/>
            <a:ext cx="3657600" cy="841248"/>
          </a:xfrm>
          <a:prstGeom prst="roundRect">
            <a:avLst/>
          </a:prstGeom>
          <a:solidFill>
            <a:srgbClr val="E4EFEA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279392"/>
            <a:ext cx="3246120" cy="41148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서로 다른 결과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사람의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사람은 경험과 기억을 떠올리며 장면을 상상합니다.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예전에 본 골목, 비 오는 날의 느낌, 우산을 썼던 기억이 함께 작용합니다.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13</a:t>
            </a:r>
          </a:p>
        </p:txBody>
      </p:sp>
      <p:sp>
        <p:nvSpPr>
          <p:cNvPr id="8" name="Oval 7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3B6F88"/>
          </a:solidFill>
          <a:ln w="12700">
            <a:solidFill>
              <a:srgbClr val="3B6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200" b="1">
                <a:solidFill>
                  <a:srgbClr val="FFFFFF"/>
                </a:solidFill>
                <a:latin typeface="S-Core Dream"/>
              </a:rPr>
              <a:t>사람의
상상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1051560"/>
            <a:ext cx="1143000" cy="114300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233A3E"/>
                </a:solidFill>
                <a:latin typeface="S-Core Dream"/>
              </a:rPr>
              <a:t>경험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1280160"/>
            <a:ext cx="1143000" cy="114300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233A3E"/>
                </a:solidFill>
                <a:latin typeface="S-Core Dream"/>
              </a:rPr>
              <a:t>기억</a:t>
            </a:r>
          </a:p>
        </p:txBody>
      </p:sp>
      <p:sp>
        <p:nvSpPr>
          <p:cNvPr id="11" name="Oval 10"/>
          <p:cNvSpPr/>
          <p:nvPr/>
        </p:nvSpPr>
        <p:spPr>
          <a:xfrm>
            <a:off x="9966960" y="4343400"/>
            <a:ext cx="1143000" cy="114300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233A3E"/>
                </a:solidFill>
                <a:latin typeface="S-Core Dream"/>
              </a:rPr>
              <a:t>느낌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AI의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33A3E"/>
                </a:solidFill>
                <a:latin typeface="S-Core Dream"/>
              </a:rPr>
              <a:t>AI는 학습한 데이터에서 비슷한 특징과 관계를 찾아 결과를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66294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779"/>
                </a:solidFill>
                <a:latin typeface="S-Core Dream"/>
              </a:rPr>
              <a:t>입력한 말이 구체적이지 않으면 AI가 채운 부분이 많아질 수 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14</a:t>
            </a:r>
          </a:p>
        </p:txBody>
      </p:sp>
      <p:sp>
        <p:nvSpPr>
          <p:cNvPr id="8" name="Oval 7"/>
          <p:cNvSpPr/>
          <p:nvPr/>
        </p:nvSpPr>
        <p:spPr>
          <a:xfrm>
            <a:off x="8366760" y="1874519"/>
            <a:ext cx="2468880" cy="246888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2200" b="1">
                <a:solidFill>
                  <a:srgbClr val="FFFFFF"/>
                </a:solidFill>
                <a:latin typeface="S-Core Dream"/>
              </a:rPr>
              <a:t>AI의
결과</a:t>
            </a:r>
          </a:p>
        </p:txBody>
      </p:sp>
      <p:sp>
        <p:nvSpPr>
          <p:cNvPr id="9" name="Oval 8"/>
          <p:cNvSpPr/>
          <p:nvPr/>
        </p:nvSpPr>
        <p:spPr>
          <a:xfrm>
            <a:off x="7452360" y="1051560"/>
            <a:ext cx="1143000" cy="114300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233A3E"/>
                </a:solidFill>
                <a:latin typeface="S-Core Dream"/>
              </a:rPr>
              <a:t>문자</a:t>
            </a:r>
          </a:p>
        </p:txBody>
      </p:sp>
      <p:sp>
        <p:nvSpPr>
          <p:cNvPr id="10" name="Oval 9"/>
          <p:cNvSpPr/>
          <p:nvPr/>
        </p:nvSpPr>
        <p:spPr>
          <a:xfrm>
            <a:off x="10241280" y="1280160"/>
            <a:ext cx="1143000" cy="114300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233A3E"/>
                </a:solidFill>
                <a:latin typeface="S-Core Dream"/>
              </a:rPr>
              <a:t>이미지</a:t>
            </a:r>
          </a:p>
        </p:txBody>
      </p:sp>
      <p:sp>
        <p:nvSpPr>
          <p:cNvPr id="11" name="Oval 10"/>
          <p:cNvSpPr/>
          <p:nvPr/>
        </p:nvSpPr>
        <p:spPr>
          <a:xfrm>
            <a:off x="9966960" y="4343400"/>
            <a:ext cx="1143000" cy="114300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AFC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233A3E"/>
                </a:solidFill>
                <a:latin typeface="S-Core Dream"/>
              </a:rPr>
              <a:t>패턴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548640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5D59"/>
                </a:solidFill>
                <a:latin typeface="S-Core Dream"/>
              </a:rPr>
              <a:t>오늘의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6583680" cy="1417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33A3E"/>
                </a:solidFill>
                <a:latin typeface="S-Core Dream"/>
              </a:rPr>
              <a:t>사람은 경험으로, AI는 데이터로 이해합니다.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594360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AI와 함께 만드는 우리 옛이야기 그림책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510528"/>
            <a:ext cx="1783080" cy="16459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647779"/>
                </a:solidFill>
                <a:latin typeface="S-Core Dream"/>
              </a:rPr>
              <a:t>1차시 · LOOK    15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880360"/>
            <a:ext cx="411480" cy="41148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S-Core Drea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71216"/>
            <a:ext cx="5943600" cy="4297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생활 속 AI 활용 장면을 찾았습니다.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703320"/>
            <a:ext cx="411480" cy="41148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S-Core Dream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94176"/>
            <a:ext cx="5943600" cy="4297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같은 문장을 보고 사람과 AI의 그림을 비교했습니다.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526280"/>
            <a:ext cx="411480" cy="41148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1F5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 b="1">
                <a:solidFill>
                  <a:srgbClr val="FFFFFF"/>
                </a:solidFill>
                <a:latin typeface="S-Core Dream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517136"/>
            <a:ext cx="5943600" cy="4297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33A3E"/>
                </a:solidFill>
                <a:latin typeface="S-Core Dream"/>
              </a:rPr>
              <a:t>서로 다른 이해 방식이 결과에 영향을 준다는 점을 알았습니다.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8275320" y="1325880"/>
            <a:ext cx="2926080" cy="2926080"/>
          </a:xfrm>
          <a:prstGeom prst="ellipse">
            <a:avLst/>
          </a:prstGeom>
          <a:solidFill>
            <a:srgbClr val="1F5D59"/>
          </a:solidFill>
          <a:ln w="12700">
            <a:solidFill>
              <a:srgbClr val="E4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4200" b="1">
                <a:solidFill>
                  <a:srgbClr val="FFFFFF"/>
                </a:solidFill>
                <a:latin typeface="S-Core Dream"/>
              </a:rPr>
              <a:t>LOOK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4526280"/>
            <a:ext cx="25603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5D59"/>
                </a:solidFill>
                <a:latin typeface="S-Core Dream"/>
              </a:rPr>
              <a:t>보고 · 비교하고 · 설명하기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5303520" cy="32004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779"/>
                </a:solidFill>
                <a:latin typeface="S-Core Dream"/>
              </a:rPr>
              <a:t>다음 차시: 우리가 만들 이야기 정하기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사람과 AI, 누가 더 잘 볼까?</dc:title>
  <dc:subject>AI와 함께 만드는 우리 옛이야기 그림책 1차시</dc:subject>
  <dc:creator>더몬스터학원 EDU STORY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